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страницы щёлкните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примечаний щёлкните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мышью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3BBA9C9-8D7F-4892-8FA6-16492F6FF34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9FF99B-7BC9-45BB-9FC6-CE65C657FB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E478CC-E8FC-4EAA-8237-73089AFEA4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26092B-1699-4B52-A49C-117FA02359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99AD27-EEFE-45AE-AA61-5FA645211E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BB4930-F8B2-4420-9D4D-F9A846F081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B8263A-7C1D-4B31-8107-A1D35D6EF1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BF14A2-C2D4-4CA6-A144-12140F7631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D1558C-0D9A-4AF4-BA30-F41A351CD9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D96EBC-95F0-4478-B9AF-A2075B8DDE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6E3A9B-0A7E-42A8-84BD-CCDC00C66B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0824DD-7CDE-4E9A-882D-DD80FA5440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580349-D0CF-4B5F-9750-E964823769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86520B-3922-458E-A385-F273BF6C86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175B5A-A126-4613-99E5-A8B04DA264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A1BAE5-1FFE-4215-AE90-C40BD6FBBD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8F4071-E6AE-4B81-9DB7-36EEF8A198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A29F98-AAE2-427C-9D44-8FA8585D72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FE87D9-33C3-470D-813B-A656C53257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5C0750-3320-486D-95A0-2EA0CEA5EE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заглавия щёлкните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2.png"/><Relationship Id="rId4" Type="http://schemas.openxmlformats.org/officeDocument/2006/relationships/image" Target="../media/image12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12.png"/><Relationship Id="rId3" Type="http://schemas.openxmlformats.org/officeDocument/2006/relationships/image" Target="../media/image12.png"/><Relationship Id="rId4" Type="http://schemas.openxmlformats.org/officeDocument/2006/relationships/image" Target="../media/image12.png"/><Relationship Id="rId5" Type="http://schemas.openxmlformats.org/officeDocument/2006/relationships/image" Target="../media/image12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27.png"/><Relationship Id="rId3" Type="http://schemas.openxmlformats.org/officeDocument/2006/relationships/image" Target="../media/image12.png"/><Relationship Id="rId4" Type="http://schemas.openxmlformats.org/officeDocument/2006/relationships/image" Target="../media/image27.png"/><Relationship Id="rId5" Type="http://schemas.openxmlformats.org/officeDocument/2006/relationships/image" Target="../media/image12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27.png"/><Relationship Id="rId3" Type="http://schemas.openxmlformats.org/officeDocument/2006/relationships/image" Target="../media/image12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8.png"/><Relationship Id="rId3" Type="http://schemas.openxmlformats.org/officeDocument/2006/relationships/image" Target="../media/image28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 rot="1500000">
            <a:off x="8076960" y="-914040"/>
            <a:ext cx="5486040" cy="10058040"/>
          </a:xfrm>
          <a:prstGeom prst="rect">
            <a:avLst/>
          </a:prstGeom>
          <a:solidFill>
            <a:srgbClr val="12173D"/>
          </a:solidFill>
          <a:ln w="12700">
            <a:solidFill>
              <a:srgbClr val="1217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9905760" y="5486400"/>
            <a:ext cx="1645560" cy="1645560"/>
          </a:xfrm>
          <a:prstGeom prst="ellipse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45720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ВСП «Київський фаховий </a:t>
            </a:r>
            <a:r>
              <a:rPr lang="en-US" sz="1200" b="1" u="none" spc="99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коледж морського і річкового </a:t>
            </a:r>
            <a:r>
              <a:rPr lang="en-US" sz="1200" b="1" u="none" spc="99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флоту та транспортних </a:t>
            </a:r>
            <a:r>
              <a:rPr lang="en-US" sz="1200" b="1" u="none" spc="99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технологій НТУ»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91440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Циклова комісія «Програмування, інформатики та математично-прикладних дисциплін»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457200" y="1508760"/>
            <a:ext cx="1371600" cy="360"/>
          </a:xfrm>
          <a:prstGeom prst="line">
            <a:avLst/>
          </a:prstGeom>
          <a:ln w="254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17830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КУРСОВИЙ ПРОЄКТ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57200" y="22860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i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Автоматизована </a:t>
            </a:r>
            <a:r>
              <a:rPr lang="en-US" sz="2600" b="0" i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інформаційно-</a:t>
            </a:r>
            <a:r>
              <a:rPr lang="en-US" sz="2600" b="0" i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пошукова система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57200" y="2926080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«Розподіл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учбового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навантажен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ня»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457200" y="41148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з дисципліни  </a:t>
            </a:r>
            <a:r>
              <a:rPr lang="en-US" sz="140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«Основи </a:t>
            </a:r>
            <a:r>
              <a:rPr lang="en-US" sz="140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програмування та алгоритмічні </a:t>
            </a:r>
            <a:r>
              <a:rPr lang="en-US" sz="140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мови»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457200" y="49377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ВИКОНАВ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457200" y="52120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Чепурняк О. В.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457200" y="56235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здобувач освіти ІІ курсу, група ПР-214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457200" y="587052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спеціальність 121 «Інженерія програмного </a:t>
            </a:r>
            <a:r>
              <a:rPr lang="en-US" sz="11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забезпечення»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6400800" y="49377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КЕРІВНИК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6400800" y="52120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Зелінська К. О.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457200" y="630936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400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Київ · 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457200" y="36576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РОЗДІЛ 1 · ВСТУП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457200" y="685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Актуальність </a:t>
            </a:r>
            <a:r>
              <a:rPr lang="en-US" sz="30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та мета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"/>
          <p:cNvSpPr/>
          <p:nvPr/>
        </p:nvSpPr>
        <p:spPr>
          <a:xfrm>
            <a:off x="457200" y="1691640"/>
            <a:ext cx="4114440" cy="429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457200" y="1828800"/>
            <a:ext cx="41144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0" b="1" u="none" strike="noStrike">
                <a:solidFill>
                  <a:srgbClr val="CADCFC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en-US" sz="1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457200" y="420624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основні сутності системи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457200" y="466344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викладачі · дисципліни · групи · </a:t>
            </a: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навантаження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6"/>
          <p:cNvSpPr/>
          <p:nvPr/>
        </p:nvSpPr>
        <p:spPr>
          <a:xfrm>
            <a:off x="1645920" y="5349240"/>
            <a:ext cx="1737360" cy="360"/>
          </a:xfrm>
          <a:prstGeom prst="line">
            <a:avLst/>
          </a:prstGeom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457200" y="548640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Облік ускладнюється при ручному </a:t>
            </a:r>
            <a:r>
              <a:rPr lang="en-US" sz="11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веденні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5029200" y="169164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Проблема: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5029200" y="2103120"/>
            <a:ext cx="66747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just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Ручний облік навчального </a:t>
            </a:r>
            <a:r>
              <a:rPr lang="en-US" sz="14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навантаження потребує </a:t>
            </a:r>
            <a:r>
              <a:rPr lang="en-US" sz="14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багато часу, не забезпечує </a:t>
            </a:r>
            <a:r>
              <a:rPr lang="en-US" sz="14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контролю зв'язків між </a:t>
            </a:r>
            <a:r>
              <a:rPr lang="en-US" sz="14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даними та призводить до </a:t>
            </a:r>
            <a:r>
              <a:rPr lang="en-US" sz="14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помилок у розподілі годин </a:t>
            </a:r>
            <a:r>
              <a:rPr lang="en-US" sz="14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між викладачами, групами і </a:t>
            </a:r>
            <a:r>
              <a:rPr lang="en-US" sz="14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дисциплінами.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5029200" y="365760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Мета роботи: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5029200" y="4069080"/>
            <a:ext cx="6674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just"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Розробка консольної </a:t>
            </a:r>
            <a:r>
              <a:rPr lang="en-US" sz="14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програми мовою C++, яка </a:t>
            </a:r>
            <a:r>
              <a:rPr lang="en-US" sz="14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автоматизує ведення </a:t>
            </a:r>
            <a:r>
              <a:rPr lang="en-US" sz="14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навчальних даних і розподіл </a:t>
            </a:r>
            <a:r>
              <a:rPr lang="en-US" sz="14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навантаження між </a:t>
            </a:r>
            <a:r>
              <a:rPr lang="en-US" sz="14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викладачами, групами та </a:t>
            </a:r>
            <a:r>
              <a:rPr lang="en-US" sz="14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дисциплінами.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5029200" y="548640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Об'єкт дослідження: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5029200" y="5760720"/>
            <a:ext cx="6674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just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процес ведення навчальних даних і </a:t>
            </a:r>
            <a:r>
              <a:rPr lang="en-US" sz="1200" b="0" i="1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розподілу навантаження у закладі </a:t>
            </a:r>
            <a:r>
              <a:rPr lang="en-US" sz="1200" b="0" i="1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освіти.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Курсовий проєкт · ПР-214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1127736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2 / 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457200" y="36576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РОЗДІЛ 1 · </a:t>
            </a:r>
            <a:r>
              <a:rPr lang="en-US" sz="1100" b="1" u="none" spc="400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ПОСТАНОВКА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457200" y="685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Завдання </a:t>
            </a:r>
            <a:r>
              <a:rPr lang="en-US" sz="30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роботи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"/>
          <p:cNvSpPr/>
          <p:nvPr/>
        </p:nvSpPr>
        <p:spPr>
          <a:xfrm>
            <a:off x="457200" y="1691640"/>
            <a:ext cx="3657240" cy="205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"/>
          <p:cNvSpPr/>
          <p:nvPr/>
        </p:nvSpPr>
        <p:spPr>
          <a:xfrm>
            <a:off x="457200" y="1691640"/>
            <a:ext cx="72720" cy="2057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4"/>
          <p:cNvSpPr/>
          <p:nvPr/>
        </p:nvSpPr>
        <p:spPr>
          <a:xfrm>
            <a:off x="731520" y="1965960"/>
            <a:ext cx="639720" cy="6397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Image 0" descr="preencoded.png"/>
          <p:cNvPicPr/>
          <p:nvPr/>
        </p:nvPicPr>
        <p:blipFill>
          <a:blip r:embed="rId1"/>
          <a:stretch/>
        </p:blipFill>
        <p:spPr>
          <a:xfrm>
            <a:off x="868680" y="21031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 5"/>
          <p:cNvSpPr/>
          <p:nvPr/>
        </p:nvSpPr>
        <p:spPr>
          <a:xfrm>
            <a:off x="3200400" y="187452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0E5F0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6"/>
          <p:cNvSpPr/>
          <p:nvPr/>
        </p:nvSpPr>
        <p:spPr>
          <a:xfrm>
            <a:off x="731520" y="26060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Аналіз предметної області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7"/>
          <p:cNvSpPr/>
          <p:nvPr/>
        </p:nvSpPr>
        <p:spPr>
          <a:xfrm>
            <a:off x="731520" y="301752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Вивчення матеріалів, виявлення </a:t>
            </a: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основних об'єктів та проблем ручного </a:t>
            </a: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обліку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8"/>
          <p:cNvSpPr/>
          <p:nvPr/>
        </p:nvSpPr>
        <p:spPr>
          <a:xfrm>
            <a:off x="4343400" y="1691640"/>
            <a:ext cx="3657240" cy="205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9"/>
          <p:cNvSpPr/>
          <p:nvPr/>
        </p:nvSpPr>
        <p:spPr>
          <a:xfrm>
            <a:off x="4343400" y="1691640"/>
            <a:ext cx="72720" cy="2057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0"/>
          <p:cNvSpPr/>
          <p:nvPr/>
        </p:nvSpPr>
        <p:spPr>
          <a:xfrm>
            <a:off x="4617720" y="1965960"/>
            <a:ext cx="639720" cy="6397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1" descr="preencoded.png"/>
          <p:cNvPicPr/>
          <p:nvPr/>
        </p:nvPicPr>
        <p:blipFill>
          <a:blip r:embed="rId2"/>
          <a:stretch/>
        </p:blipFill>
        <p:spPr>
          <a:xfrm>
            <a:off x="4754880" y="21031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11"/>
          <p:cNvSpPr/>
          <p:nvPr/>
        </p:nvSpPr>
        <p:spPr>
          <a:xfrm>
            <a:off x="7086600" y="187452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0E5F0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4617720" y="26060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Структури даних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4617720" y="301752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Розробка внутрішніх моделей для </a:t>
            </a: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збереження інформації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4"/>
          <p:cNvSpPr/>
          <p:nvPr/>
        </p:nvSpPr>
        <p:spPr>
          <a:xfrm>
            <a:off x="8229600" y="1691640"/>
            <a:ext cx="3657240" cy="205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5"/>
          <p:cNvSpPr/>
          <p:nvPr/>
        </p:nvSpPr>
        <p:spPr>
          <a:xfrm>
            <a:off x="8229600" y="1691640"/>
            <a:ext cx="72720" cy="2057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6"/>
          <p:cNvSpPr/>
          <p:nvPr/>
        </p:nvSpPr>
        <p:spPr>
          <a:xfrm>
            <a:off x="8503920" y="1965960"/>
            <a:ext cx="639720" cy="6397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Image 2" descr="preencoded.png"/>
          <p:cNvPicPr/>
          <p:nvPr/>
        </p:nvPicPr>
        <p:blipFill>
          <a:blip r:embed="rId3"/>
          <a:stretch/>
        </p:blipFill>
        <p:spPr>
          <a:xfrm>
            <a:off x="8641080" y="21031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17"/>
          <p:cNvSpPr/>
          <p:nvPr/>
        </p:nvSpPr>
        <p:spPr>
          <a:xfrm>
            <a:off x="10972800" y="187452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0E5F0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8"/>
          <p:cNvSpPr/>
          <p:nvPr/>
        </p:nvSpPr>
        <p:spPr>
          <a:xfrm>
            <a:off x="8503920" y="26060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Модульна структура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9"/>
          <p:cNvSpPr/>
          <p:nvPr/>
        </p:nvSpPr>
        <p:spPr>
          <a:xfrm>
            <a:off x="8503920" y="301752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Проєктування архітектури з поділом на </a:t>
            </a: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шари UI, Service, Repository, Storage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0"/>
          <p:cNvSpPr/>
          <p:nvPr/>
        </p:nvSpPr>
        <p:spPr>
          <a:xfrm>
            <a:off x="457200" y="3977640"/>
            <a:ext cx="3657240" cy="205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1"/>
          <p:cNvSpPr/>
          <p:nvPr/>
        </p:nvSpPr>
        <p:spPr>
          <a:xfrm>
            <a:off x="457200" y="3977640"/>
            <a:ext cx="72720" cy="2057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2"/>
          <p:cNvSpPr/>
          <p:nvPr/>
        </p:nvSpPr>
        <p:spPr>
          <a:xfrm>
            <a:off x="731520" y="4251960"/>
            <a:ext cx="639720" cy="6397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3" descr="preencoded.png"/>
          <p:cNvPicPr/>
          <p:nvPr/>
        </p:nvPicPr>
        <p:blipFill>
          <a:blip r:embed="rId4"/>
          <a:stretch/>
        </p:blipFill>
        <p:spPr>
          <a:xfrm>
            <a:off x="868680" y="43891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23"/>
          <p:cNvSpPr/>
          <p:nvPr/>
        </p:nvSpPr>
        <p:spPr>
          <a:xfrm>
            <a:off x="3200400" y="416052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0E5F0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4"/>
          <p:cNvSpPr/>
          <p:nvPr/>
        </p:nvSpPr>
        <p:spPr>
          <a:xfrm>
            <a:off x="731520" y="48920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CRUD-операції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5"/>
          <p:cNvSpPr/>
          <p:nvPr/>
        </p:nvSpPr>
        <p:spPr>
          <a:xfrm>
            <a:off x="731520" y="530352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Реалізація додавання, перегляду, </a:t>
            </a: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редагування та видалення записів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6"/>
          <p:cNvSpPr/>
          <p:nvPr/>
        </p:nvSpPr>
        <p:spPr>
          <a:xfrm>
            <a:off x="4343400" y="3977640"/>
            <a:ext cx="3657240" cy="205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7"/>
          <p:cNvSpPr/>
          <p:nvPr/>
        </p:nvSpPr>
        <p:spPr>
          <a:xfrm>
            <a:off x="4343400" y="3977640"/>
            <a:ext cx="72720" cy="2057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8"/>
          <p:cNvSpPr/>
          <p:nvPr/>
        </p:nvSpPr>
        <p:spPr>
          <a:xfrm>
            <a:off x="4617720" y="4251960"/>
            <a:ext cx="639720" cy="6397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Image 4" descr="preencoded.png"/>
          <p:cNvPicPr/>
          <p:nvPr/>
        </p:nvPicPr>
        <p:blipFill>
          <a:blip r:embed="rId5"/>
          <a:stretch/>
        </p:blipFill>
        <p:spPr>
          <a:xfrm>
            <a:off x="4754880" y="43891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29"/>
          <p:cNvSpPr/>
          <p:nvPr/>
        </p:nvSpPr>
        <p:spPr>
          <a:xfrm>
            <a:off x="7086600" y="416052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0E5F0"/>
                </a:solidFill>
                <a:effectLst/>
                <a:uFillTx/>
                <a:latin typeface="Georgia"/>
                <a:ea typeface="Georgia"/>
              </a:rPr>
              <a:t>05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0"/>
          <p:cNvSpPr/>
          <p:nvPr/>
        </p:nvSpPr>
        <p:spPr>
          <a:xfrm>
            <a:off x="4617720" y="48920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Перевірка коректності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1"/>
          <p:cNvSpPr/>
          <p:nvPr/>
        </p:nvSpPr>
        <p:spPr>
          <a:xfrm>
            <a:off x="4617720" y="530352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Контроль квот викладачів, валідація </a:t>
            </a: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введення, перевірка зв'язків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32"/>
          <p:cNvSpPr/>
          <p:nvPr/>
        </p:nvSpPr>
        <p:spPr>
          <a:xfrm>
            <a:off x="8229600" y="3977640"/>
            <a:ext cx="3657240" cy="205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3"/>
          <p:cNvSpPr/>
          <p:nvPr/>
        </p:nvSpPr>
        <p:spPr>
          <a:xfrm>
            <a:off x="8229600" y="3977640"/>
            <a:ext cx="72720" cy="2057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34"/>
          <p:cNvSpPr/>
          <p:nvPr/>
        </p:nvSpPr>
        <p:spPr>
          <a:xfrm>
            <a:off x="8503920" y="4251960"/>
            <a:ext cx="639720" cy="6397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5" descr="preencoded.png"/>
          <p:cNvPicPr/>
          <p:nvPr/>
        </p:nvPicPr>
        <p:blipFill>
          <a:blip r:embed="rId6"/>
          <a:stretch/>
        </p:blipFill>
        <p:spPr>
          <a:xfrm>
            <a:off x="8641080" y="43891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35"/>
          <p:cNvSpPr/>
          <p:nvPr/>
        </p:nvSpPr>
        <p:spPr>
          <a:xfrm>
            <a:off x="10972800" y="416052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0E5F0"/>
                </a:solidFill>
                <a:effectLst/>
                <a:uFillTx/>
                <a:latin typeface="Georgia"/>
                <a:ea typeface="Georgia"/>
              </a:rPr>
              <a:t>06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6"/>
          <p:cNvSpPr/>
          <p:nvPr/>
        </p:nvSpPr>
        <p:spPr>
          <a:xfrm>
            <a:off x="8503920" y="489204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Тестування та інструкція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7"/>
          <p:cNvSpPr/>
          <p:nvPr/>
        </p:nvSpPr>
        <p:spPr>
          <a:xfrm>
            <a:off x="8503920" y="5303520"/>
            <a:ext cx="3200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Ручне тестування основних сценаріїв, </a:t>
            </a: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складання інструкції користувача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8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Курсовий проєкт · ПР-214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9"/>
          <p:cNvSpPr/>
          <p:nvPr/>
        </p:nvSpPr>
        <p:spPr>
          <a:xfrm>
            <a:off x="1127736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3 / 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457200" y="36576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РОЗДІЛ 1.1 · </a:t>
            </a:r>
            <a:r>
              <a:rPr lang="en-US" sz="1100" b="1" u="none" spc="400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ПРЕДМЕТНА ОБЛАСТЬ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457200" y="685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Основні об'єкти системи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457200" y="1691640"/>
            <a:ext cx="1127700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457200" y="1691640"/>
            <a:ext cx="822600" cy="1096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457200" y="1691640"/>
            <a:ext cx="822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CADCFC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5"/>
          <p:cNvSpPr/>
          <p:nvPr/>
        </p:nvSpPr>
        <p:spPr>
          <a:xfrm>
            <a:off x="1508760" y="1965960"/>
            <a:ext cx="548280" cy="5482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0" descr="preencoded.png"/>
          <p:cNvPicPr/>
          <p:nvPr/>
        </p:nvPicPr>
        <p:blipFill>
          <a:blip r:embed="rId1"/>
          <a:stretch/>
        </p:blipFill>
        <p:spPr>
          <a:xfrm>
            <a:off x="1618560" y="207576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6"/>
          <p:cNvSpPr/>
          <p:nvPr/>
        </p:nvSpPr>
        <p:spPr>
          <a:xfrm>
            <a:off x="2240280" y="180144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Викладач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2240280" y="22219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761"/>
                </a:solidFill>
                <a:effectLst/>
                <a:uFillTx/>
                <a:latin typeface="Consolas"/>
                <a:ea typeface="Consolas"/>
              </a:rPr>
              <a:t>id · full_name · digital_commission · quota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5212080" y="1801440"/>
            <a:ext cx="6309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Облік викладачів та контроль їх навантаження за квотою годин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9"/>
          <p:cNvSpPr/>
          <p:nvPr/>
        </p:nvSpPr>
        <p:spPr>
          <a:xfrm>
            <a:off x="457200" y="2898720"/>
            <a:ext cx="1127700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0"/>
          <p:cNvSpPr/>
          <p:nvPr/>
        </p:nvSpPr>
        <p:spPr>
          <a:xfrm>
            <a:off x="457200" y="2898720"/>
            <a:ext cx="822600" cy="1096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457200" y="2898720"/>
            <a:ext cx="822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CADCFC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2"/>
          <p:cNvSpPr/>
          <p:nvPr/>
        </p:nvSpPr>
        <p:spPr>
          <a:xfrm>
            <a:off x="1508760" y="3173040"/>
            <a:ext cx="548280" cy="5482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1" descr="preencoded.png"/>
          <p:cNvPicPr/>
          <p:nvPr/>
        </p:nvPicPr>
        <p:blipFill>
          <a:blip r:embed="rId2"/>
          <a:stretch/>
        </p:blipFill>
        <p:spPr>
          <a:xfrm>
            <a:off x="1618560" y="328284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13"/>
          <p:cNvSpPr/>
          <p:nvPr/>
        </p:nvSpPr>
        <p:spPr>
          <a:xfrm>
            <a:off x="2240280" y="300852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Дисципліна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4"/>
          <p:cNvSpPr/>
          <p:nvPr/>
        </p:nvSpPr>
        <p:spPr>
          <a:xfrm>
            <a:off x="2240280" y="342900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761"/>
                </a:solidFill>
                <a:effectLst/>
                <a:uFillTx/>
                <a:latin typeface="Consolas"/>
                <a:ea typeface="Consolas"/>
              </a:rPr>
              <a:t>id · name · quota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5"/>
          <p:cNvSpPr/>
          <p:nvPr/>
        </p:nvSpPr>
        <p:spPr>
          <a:xfrm>
            <a:off x="5212080" y="3008520"/>
            <a:ext cx="6309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Облік навчальних предметів і ліміту годин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6"/>
          <p:cNvSpPr/>
          <p:nvPr/>
        </p:nvSpPr>
        <p:spPr>
          <a:xfrm>
            <a:off x="457200" y="4105800"/>
            <a:ext cx="1127700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7"/>
          <p:cNvSpPr/>
          <p:nvPr/>
        </p:nvSpPr>
        <p:spPr>
          <a:xfrm>
            <a:off x="457200" y="4105800"/>
            <a:ext cx="822600" cy="1096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8"/>
          <p:cNvSpPr/>
          <p:nvPr/>
        </p:nvSpPr>
        <p:spPr>
          <a:xfrm>
            <a:off x="457200" y="4105800"/>
            <a:ext cx="822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CADCFC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9"/>
          <p:cNvSpPr/>
          <p:nvPr/>
        </p:nvSpPr>
        <p:spPr>
          <a:xfrm>
            <a:off x="1508760" y="4380120"/>
            <a:ext cx="548280" cy="5482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Image 2" descr="preencoded.png"/>
          <p:cNvPicPr/>
          <p:nvPr/>
        </p:nvPicPr>
        <p:blipFill>
          <a:blip r:embed="rId3"/>
          <a:stretch/>
        </p:blipFill>
        <p:spPr>
          <a:xfrm>
            <a:off x="1618560" y="448956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 20"/>
          <p:cNvSpPr/>
          <p:nvPr/>
        </p:nvSpPr>
        <p:spPr>
          <a:xfrm>
            <a:off x="2240280" y="421524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Навчальна група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1"/>
          <p:cNvSpPr/>
          <p:nvPr/>
        </p:nvSpPr>
        <p:spPr>
          <a:xfrm>
            <a:off x="2240280" y="463608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761"/>
                </a:solidFill>
                <a:effectLst/>
                <a:uFillTx/>
                <a:latin typeface="Consolas"/>
                <a:ea typeface="Consolas"/>
              </a:rPr>
              <a:t>id · name · course · speciality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2"/>
          <p:cNvSpPr/>
          <p:nvPr/>
        </p:nvSpPr>
        <p:spPr>
          <a:xfrm>
            <a:off x="5212080" y="4215240"/>
            <a:ext cx="6309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Прив'язка навантаження до конкретної групи здобувачів освіти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3"/>
          <p:cNvSpPr/>
          <p:nvPr/>
        </p:nvSpPr>
        <p:spPr>
          <a:xfrm>
            <a:off x="457200" y="5312520"/>
            <a:ext cx="11277000" cy="109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4"/>
          <p:cNvSpPr/>
          <p:nvPr/>
        </p:nvSpPr>
        <p:spPr>
          <a:xfrm>
            <a:off x="457200" y="5312520"/>
            <a:ext cx="822600" cy="1096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5"/>
          <p:cNvSpPr/>
          <p:nvPr/>
        </p:nvSpPr>
        <p:spPr>
          <a:xfrm>
            <a:off x="457200" y="5312520"/>
            <a:ext cx="822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CADCFC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6"/>
          <p:cNvSpPr/>
          <p:nvPr/>
        </p:nvSpPr>
        <p:spPr>
          <a:xfrm>
            <a:off x="1508760" y="5586840"/>
            <a:ext cx="548280" cy="5482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Image 3" descr="preencoded.png"/>
          <p:cNvPicPr/>
          <p:nvPr/>
        </p:nvPicPr>
        <p:blipFill>
          <a:blip r:embed="rId4"/>
          <a:stretch/>
        </p:blipFill>
        <p:spPr>
          <a:xfrm>
            <a:off x="1618560" y="569664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 27"/>
          <p:cNvSpPr/>
          <p:nvPr/>
        </p:nvSpPr>
        <p:spPr>
          <a:xfrm>
            <a:off x="2240280" y="542232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Навантаження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8"/>
          <p:cNvSpPr/>
          <p:nvPr/>
        </p:nvSpPr>
        <p:spPr>
          <a:xfrm>
            <a:off x="2240280" y="584316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E2761"/>
                </a:solidFill>
                <a:effectLst/>
                <a:uFillTx/>
                <a:latin typeface="Consolas"/>
                <a:ea typeface="Consolas"/>
              </a:rPr>
              <a:t>id · teacher_ids · group_ids · discipline_id · lectures · practical · lab · seminars · cons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9"/>
          <p:cNvSpPr/>
          <p:nvPr/>
        </p:nvSpPr>
        <p:spPr>
          <a:xfrm>
            <a:off x="5212080" y="5422320"/>
            <a:ext cx="6309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Центральний об'єкт системи — поєднує викладачів, групи та дисципліну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0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Курсовий проєкт · ПР-214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1"/>
          <p:cNvSpPr/>
          <p:nvPr/>
        </p:nvSpPr>
        <p:spPr>
          <a:xfrm>
            <a:off x="1127736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4 / 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457200" y="36576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РОЗДІЛ 1.1 · КОНЦЕПТУАЛЬНА МОДЕЛЬ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457200" y="685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Зв'язки між сутностями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0" descr="/home/claude/kursach/diagrams/er.png"/>
          <p:cNvPicPr/>
          <p:nvPr/>
        </p:nvPicPr>
        <p:blipFill>
          <a:blip r:embed="rId1"/>
          <a:stretch/>
        </p:blipFill>
        <p:spPr>
          <a:xfrm>
            <a:off x="457200" y="1691640"/>
            <a:ext cx="502380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2"/>
          <p:cNvSpPr/>
          <p:nvPr/>
        </p:nvSpPr>
        <p:spPr>
          <a:xfrm>
            <a:off x="8686800" y="169164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Ключова логіка: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Image 1" descr="preencoded.png"/>
          <p:cNvPicPr/>
          <p:nvPr/>
        </p:nvPicPr>
        <p:blipFill>
          <a:blip r:embed="rId2"/>
          <a:stretch/>
        </p:blipFill>
        <p:spPr>
          <a:xfrm>
            <a:off x="8686800" y="2194560"/>
            <a:ext cx="182520" cy="18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 3"/>
          <p:cNvSpPr/>
          <p:nvPr/>
        </p:nvSpPr>
        <p:spPr>
          <a:xfrm>
            <a:off x="8961120" y="2148840"/>
            <a:ext cx="3200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Workload — центральна сутність, що пов'язує всіх інших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2" descr="preencoded.png"/>
          <p:cNvPicPr/>
          <p:nvPr/>
        </p:nvPicPr>
        <p:blipFill>
          <a:blip r:embed="rId3"/>
          <a:stretch/>
        </p:blipFill>
        <p:spPr>
          <a:xfrm>
            <a:off x="8686800" y="2971800"/>
            <a:ext cx="182520" cy="18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4"/>
          <p:cNvSpPr/>
          <p:nvPr/>
        </p:nvSpPr>
        <p:spPr>
          <a:xfrm>
            <a:off x="8961120" y="2926080"/>
            <a:ext cx="3200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Один запис навантаження може містити декількох викладачів і груп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3" descr="preencoded.png"/>
          <p:cNvPicPr/>
          <p:nvPr/>
        </p:nvPicPr>
        <p:blipFill>
          <a:blip r:embed="rId4"/>
          <a:stretch/>
        </p:blipFill>
        <p:spPr>
          <a:xfrm>
            <a:off x="8686800" y="3749040"/>
            <a:ext cx="182520" cy="18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5"/>
          <p:cNvSpPr/>
          <p:nvPr/>
        </p:nvSpPr>
        <p:spPr>
          <a:xfrm>
            <a:off x="8961120" y="3703320"/>
            <a:ext cx="3200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Контроль квот: total_hours ≤ quota викладача та дисципліни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Image 4" descr="preencoded.png"/>
          <p:cNvPicPr/>
          <p:nvPr/>
        </p:nvPicPr>
        <p:blipFill>
          <a:blip r:embed="rId5"/>
          <a:stretch/>
        </p:blipFill>
        <p:spPr>
          <a:xfrm>
            <a:off x="8686800" y="4526280"/>
            <a:ext cx="182520" cy="18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6"/>
          <p:cNvSpPr/>
          <p:nvPr/>
        </p:nvSpPr>
        <p:spPr>
          <a:xfrm>
            <a:off x="8961120" y="4480560"/>
            <a:ext cx="3200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Усі зв'язки реалізовано через масиви ID, а не через окремі таблиці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457200" y="6355080"/>
            <a:ext cx="5023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Рисунок 1.2 — Концептуальна модель даних (Пояснювальна записка)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Курсовий проєкт · ПР-214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1127736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5 / 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/>
          <p:nvPr/>
        </p:nvSpPr>
        <p:spPr>
          <a:xfrm>
            <a:off x="457200" y="36576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РОЗДІЛ 2.2 · СПЕЦІАЛЬНИЙ РОЗДІЛ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457200" y="685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Архітектура системи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Image 0" descr="/home/claude/kursach/diagrams/arch.png"/>
          <p:cNvPicPr/>
          <p:nvPr/>
        </p:nvPicPr>
        <p:blipFill>
          <a:blip r:embed="rId1"/>
          <a:stretch/>
        </p:blipFill>
        <p:spPr>
          <a:xfrm>
            <a:off x="609480" y="1691640"/>
            <a:ext cx="10972440" cy="99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Text 2"/>
          <p:cNvSpPr/>
          <p:nvPr/>
        </p:nvSpPr>
        <p:spPr>
          <a:xfrm>
            <a:off x="457200" y="272952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Рисунок 2.1 — Архітектура програмної системи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"/>
          <p:cNvSpPr/>
          <p:nvPr/>
        </p:nvSpPr>
        <p:spPr>
          <a:xfrm>
            <a:off x="457200" y="35204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Принцип послідовної взаємодії шарів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457200" y="38862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Користувач → інтерфейс викликає сервіси → сервіси перевіряють правила → репозиторії читають/пишуть → сховище працює з JSON-файлами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5"/>
          <p:cNvSpPr/>
          <p:nvPr/>
        </p:nvSpPr>
        <p:spPr>
          <a:xfrm>
            <a:off x="402480" y="4572000"/>
            <a:ext cx="2212560" cy="182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6"/>
          <p:cNvSpPr/>
          <p:nvPr/>
        </p:nvSpPr>
        <p:spPr>
          <a:xfrm>
            <a:off x="402480" y="4572000"/>
            <a:ext cx="2212560" cy="456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402480" y="4572000"/>
            <a:ext cx="221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UI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493920" y="5120640"/>
            <a:ext cx="2029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main.cpp · ui.cpp · input.cpp · menu_handlers.cpp · search.cpp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9"/>
          <p:cNvSpPr/>
          <p:nvPr/>
        </p:nvSpPr>
        <p:spPr>
          <a:xfrm>
            <a:off x="493920" y="6080760"/>
            <a:ext cx="202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Меню, введення, виведення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0"/>
          <p:cNvSpPr/>
          <p:nvPr/>
        </p:nvSpPr>
        <p:spPr>
          <a:xfrm>
            <a:off x="2688480" y="4572000"/>
            <a:ext cx="2212560" cy="182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1"/>
          <p:cNvSpPr/>
          <p:nvPr/>
        </p:nvSpPr>
        <p:spPr>
          <a:xfrm>
            <a:off x="2688480" y="4572000"/>
            <a:ext cx="2212560" cy="456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2688480" y="4572000"/>
            <a:ext cx="221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Services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3"/>
          <p:cNvSpPr/>
          <p:nvPr/>
        </p:nvSpPr>
        <p:spPr>
          <a:xfrm>
            <a:off x="2779920" y="5120640"/>
            <a:ext cx="2029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teacher_service · group_service · discipline_service · workload_service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4"/>
          <p:cNvSpPr/>
          <p:nvPr/>
        </p:nvSpPr>
        <p:spPr>
          <a:xfrm>
            <a:off x="2779920" y="6080760"/>
            <a:ext cx="202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Бізнес-логіка, валідація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5"/>
          <p:cNvSpPr/>
          <p:nvPr/>
        </p:nvSpPr>
        <p:spPr>
          <a:xfrm>
            <a:off x="4974480" y="4572000"/>
            <a:ext cx="2212560" cy="182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6"/>
          <p:cNvSpPr/>
          <p:nvPr/>
        </p:nvSpPr>
        <p:spPr>
          <a:xfrm>
            <a:off x="4974480" y="4572000"/>
            <a:ext cx="2212560" cy="456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7"/>
          <p:cNvSpPr/>
          <p:nvPr/>
        </p:nvSpPr>
        <p:spPr>
          <a:xfrm>
            <a:off x="4974480" y="4572000"/>
            <a:ext cx="221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Repositories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8"/>
          <p:cNvSpPr/>
          <p:nvPr/>
        </p:nvSpPr>
        <p:spPr>
          <a:xfrm>
            <a:off x="5065920" y="5120640"/>
            <a:ext cx="2029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*_repository.cpp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9"/>
          <p:cNvSpPr/>
          <p:nvPr/>
        </p:nvSpPr>
        <p:spPr>
          <a:xfrm>
            <a:off x="5065920" y="6080760"/>
            <a:ext cx="202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CRUD-операції над даними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0"/>
          <p:cNvSpPr/>
          <p:nvPr/>
        </p:nvSpPr>
        <p:spPr>
          <a:xfrm>
            <a:off x="7260480" y="4572000"/>
            <a:ext cx="2212560" cy="182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1"/>
          <p:cNvSpPr/>
          <p:nvPr/>
        </p:nvSpPr>
        <p:spPr>
          <a:xfrm>
            <a:off x="7260480" y="4572000"/>
            <a:ext cx="2212560" cy="456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2"/>
          <p:cNvSpPr/>
          <p:nvPr/>
        </p:nvSpPr>
        <p:spPr>
          <a:xfrm>
            <a:off x="7260480" y="4572000"/>
            <a:ext cx="221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Storage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3"/>
          <p:cNvSpPr/>
          <p:nvPr/>
        </p:nvSpPr>
        <p:spPr>
          <a:xfrm>
            <a:off x="7351920" y="5120640"/>
            <a:ext cx="2029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json_storage.cpp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4"/>
          <p:cNvSpPr/>
          <p:nvPr/>
        </p:nvSpPr>
        <p:spPr>
          <a:xfrm>
            <a:off x="7351920" y="6080760"/>
            <a:ext cx="202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Робота з JSON-файлами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5"/>
          <p:cNvSpPr/>
          <p:nvPr/>
        </p:nvSpPr>
        <p:spPr>
          <a:xfrm>
            <a:off x="9546480" y="4572000"/>
            <a:ext cx="2212560" cy="182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26"/>
          <p:cNvSpPr/>
          <p:nvPr/>
        </p:nvSpPr>
        <p:spPr>
          <a:xfrm>
            <a:off x="9546480" y="4572000"/>
            <a:ext cx="2212560" cy="456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7"/>
          <p:cNvSpPr/>
          <p:nvPr/>
        </p:nvSpPr>
        <p:spPr>
          <a:xfrm>
            <a:off x="9546480" y="4572000"/>
            <a:ext cx="221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Utils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8"/>
          <p:cNvSpPr/>
          <p:nvPr/>
        </p:nvSpPr>
        <p:spPr>
          <a:xfrm>
            <a:off x="9637920" y="5120640"/>
            <a:ext cx="2029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string_utils.cpp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9"/>
          <p:cNvSpPr/>
          <p:nvPr/>
        </p:nvSpPr>
        <p:spPr>
          <a:xfrm>
            <a:off x="9637920" y="6080760"/>
            <a:ext cx="202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Допоміжні функції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0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Курсовий проєкт · ПР-214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1"/>
          <p:cNvSpPr/>
          <p:nvPr/>
        </p:nvSpPr>
        <p:spPr>
          <a:xfrm>
            <a:off x="1127736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6 / 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457200" y="36576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РОЗДІЛ 2.2.1 · СТРУКТУРА КОДУ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457200" y="685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Модульний склад програми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0" descr="/home/claude/kursach/diagrams/modules.png"/>
          <p:cNvPicPr/>
          <p:nvPr/>
        </p:nvPicPr>
        <p:blipFill>
          <a:blip r:embed="rId1"/>
          <a:stretch/>
        </p:blipFill>
        <p:spPr>
          <a:xfrm>
            <a:off x="457200" y="1691640"/>
            <a:ext cx="4999680" cy="48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 2"/>
          <p:cNvSpPr/>
          <p:nvPr/>
        </p:nvSpPr>
        <p:spPr>
          <a:xfrm>
            <a:off x="457200" y="6583680"/>
            <a:ext cx="499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Рисунок 2.3 — Зв'язки між модулями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5640120" y="1691640"/>
            <a:ext cx="609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Ключові функції: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"/>
          <p:cNvSpPr/>
          <p:nvPr/>
        </p:nvSpPr>
        <p:spPr>
          <a:xfrm>
            <a:off x="5640120" y="2148840"/>
            <a:ext cx="609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onsolas"/>
                <a:ea typeface="Consolas"/>
              </a:rPr>
              <a:t>ShowObjects()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5"/>
          <p:cNvSpPr/>
          <p:nvPr/>
        </p:nvSpPr>
        <p:spPr>
          <a:xfrm>
            <a:off x="5640120" y="2386440"/>
            <a:ext cx="609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виводить головне меню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5640120" y="2697480"/>
            <a:ext cx="609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onsolas"/>
                <a:ea typeface="Consolas"/>
              </a:rPr>
              <a:t>HandleCrudMenu()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5640120" y="2935080"/>
            <a:ext cx="609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обробляє CRUD-операції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8"/>
          <p:cNvSpPr/>
          <p:nvPr/>
        </p:nvSpPr>
        <p:spPr>
          <a:xfrm>
            <a:off x="5640120" y="3246120"/>
            <a:ext cx="609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onsolas"/>
                <a:ea typeface="Consolas"/>
              </a:rPr>
              <a:t>ValidateTeacher()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5640120" y="3483720"/>
            <a:ext cx="609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перевірка даних викладача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0"/>
          <p:cNvSpPr/>
          <p:nvPr/>
        </p:nvSpPr>
        <p:spPr>
          <a:xfrm>
            <a:off x="5640120" y="3794760"/>
            <a:ext cx="609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onsolas"/>
                <a:ea typeface="Consolas"/>
              </a:rPr>
              <a:t>ValidateWorkload()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1"/>
          <p:cNvSpPr/>
          <p:nvPr/>
        </p:nvSpPr>
        <p:spPr>
          <a:xfrm>
            <a:off x="5640120" y="4032360"/>
            <a:ext cx="609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перевірка навантаження та квот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2"/>
          <p:cNvSpPr/>
          <p:nvPr/>
        </p:nvSpPr>
        <p:spPr>
          <a:xfrm>
            <a:off x="5640120" y="4343400"/>
            <a:ext cx="609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onsolas"/>
                <a:ea typeface="Consolas"/>
              </a:rPr>
              <a:t>ReadJsonArray()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3"/>
          <p:cNvSpPr/>
          <p:nvPr/>
        </p:nvSpPr>
        <p:spPr>
          <a:xfrm>
            <a:off x="5640120" y="4581000"/>
            <a:ext cx="609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читає JSON-масив із файлу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4"/>
          <p:cNvSpPr/>
          <p:nvPr/>
        </p:nvSpPr>
        <p:spPr>
          <a:xfrm>
            <a:off x="5640120" y="4892040"/>
            <a:ext cx="609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onsolas"/>
                <a:ea typeface="Consolas"/>
              </a:rPr>
              <a:t>WriteJsonArray()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5"/>
          <p:cNvSpPr/>
          <p:nvPr/>
        </p:nvSpPr>
        <p:spPr>
          <a:xfrm>
            <a:off x="5640120" y="5129640"/>
            <a:ext cx="609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записує JSON-масив у файл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6"/>
          <p:cNvSpPr/>
          <p:nvPr/>
        </p:nvSpPr>
        <p:spPr>
          <a:xfrm>
            <a:off x="5640120" y="5440680"/>
            <a:ext cx="609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2761"/>
                </a:solidFill>
                <a:effectLst/>
                <a:uFillTx/>
                <a:latin typeface="Consolas"/>
                <a:ea typeface="Consolas"/>
              </a:rPr>
              <a:t>HandleSearchMenu()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7"/>
          <p:cNvSpPr/>
          <p:nvPr/>
        </p:nvSpPr>
        <p:spPr>
          <a:xfrm>
            <a:off x="5640120" y="5678280"/>
            <a:ext cx="609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пошук за всіма сутностями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8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Курсовий проєкт · ПР-214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9"/>
          <p:cNvSpPr/>
          <p:nvPr/>
        </p:nvSpPr>
        <p:spPr>
          <a:xfrm>
            <a:off x="1127736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7 / 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57200" y="36576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РОЗДІЛ 2.2.2 · ЛОГІЧНА СТРУКТУРА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457200" y="685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Алгоритм роботи програми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Image 0" descr="/home/claude/kursach/diagrams/algo.png"/>
          <p:cNvPicPr/>
          <p:nvPr/>
        </p:nvPicPr>
        <p:blipFill>
          <a:blip r:embed="rId1"/>
          <a:stretch/>
        </p:blipFill>
        <p:spPr>
          <a:xfrm>
            <a:off x="457200" y="1691640"/>
            <a:ext cx="2522160" cy="484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 2"/>
          <p:cNvSpPr/>
          <p:nvPr/>
        </p:nvSpPr>
        <p:spPr>
          <a:xfrm>
            <a:off x="457200" y="6583680"/>
            <a:ext cx="2979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Рисунок 2.4 — Алгоритм роботи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3"/>
          <p:cNvSpPr/>
          <p:nvPr/>
        </p:nvSpPr>
        <p:spPr>
          <a:xfrm>
            <a:off x="3619800" y="1783080"/>
            <a:ext cx="456840" cy="456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"/>
          <p:cNvSpPr/>
          <p:nvPr/>
        </p:nvSpPr>
        <p:spPr>
          <a:xfrm>
            <a:off x="3619800" y="17830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4214160" y="1783080"/>
            <a:ext cx="7473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Запуск програми та ініціалізація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6"/>
          <p:cNvSpPr/>
          <p:nvPr/>
        </p:nvSpPr>
        <p:spPr>
          <a:xfrm>
            <a:off x="3619800" y="2331720"/>
            <a:ext cx="456840" cy="456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7"/>
          <p:cNvSpPr/>
          <p:nvPr/>
        </p:nvSpPr>
        <p:spPr>
          <a:xfrm>
            <a:off x="3619800" y="23317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8"/>
          <p:cNvSpPr/>
          <p:nvPr/>
        </p:nvSpPr>
        <p:spPr>
          <a:xfrm>
            <a:off x="4214160" y="2331720"/>
            <a:ext cx="7473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Завантаження даних із JSON-файлів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9"/>
          <p:cNvSpPr/>
          <p:nvPr/>
        </p:nvSpPr>
        <p:spPr>
          <a:xfrm>
            <a:off x="3619800" y="2880360"/>
            <a:ext cx="456840" cy="456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0"/>
          <p:cNvSpPr/>
          <p:nvPr/>
        </p:nvSpPr>
        <p:spPr>
          <a:xfrm>
            <a:off x="3619800" y="2880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1"/>
          <p:cNvSpPr/>
          <p:nvPr/>
        </p:nvSpPr>
        <p:spPr>
          <a:xfrm>
            <a:off x="4214160" y="2880360"/>
            <a:ext cx="7473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Відображення головного меню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2"/>
          <p:cNvSpPr/>
          <p:nvPr/>
        </p:nvSpPr>
        <p:spPr>
          <a:xfrm>
            <a:off x="3619800" y="3429000"/>
            <a:ext cx="456840" cy="456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3"/>
          <p:cNvSpPr/>
          <p:nvPr/>
        </p:nvSpPr>
        <p:spPr>
          <a:xfrm>
            <a:off x="3619800" y="3429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4"/>
          <p:cNvSpPr/>
          <p:nvPr/>
        </p:nvSpPr>
        <p:spPr>
          <a:xfrm>
            <a:off x="4214160" y="3429000"/>
            <a:ext cx="7473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Вибір розділу користувачем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5"/>
          <p:cNvSpPr/>
          <p:nvPr/>
        </p:nvSpPr>
        <p:spPr>
          <a:xfrm>
            <a:off x="3619800" y="3977640"/>
            <a:ext cx="456840" cy="456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6"/>
          <p:cNvSpPr/>
          <p:nvPr/>
        </p:nvSpPr>
        <p:spPr>
          <a:xfrm>
            <a:off x="3619800" y="3977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7"/>
          <p:cNvSpPr/>
          <p:nvPr/>
        </p:nvSpPr>
        <p:spPr>
          <a:xfrm>
            <a:off x="4214160" y="3977640"/>
            <a:ext cx="7473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Введення даних або ID запису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8"/>
          <p:cNvSpPr/>
          <p:nvPr/>
        </p:nvSpPr>
        <p:spPr>
          <a:xfrm>
            <a:off x="3619800" y="4526280"/>
            <a:ext cx="456840" cy="456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9"/>
          <p:cNvSpPr/>
          <p:nvPr/>
        </p:nvSpPr>
        <p:spPr>
          <a:xfrm>
            <a:off x="3619800" y="4526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0"/>
          <p:cNvSpPr/>
          <p:nvPr/>
        </p:nvSpPr>
        <p:spPr>
          <a:xfrm>
            <a:off x="4214160" y="4526280"/>
            <a:ext cx="7473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Перевірка коректності (Service)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1"/>
          <p:cNvSpPr/>
          <p:nvPr/>
        </p:nvSpPr>
        <p:spPr>
          <a:xfrm>
            <a:off x="3619800" y="5074920"/>
            <a:ext cx="456840" cy="456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2"/>
          <p:cNvSpPr/>
          <p:nvPr/>
        </p:nvSpPr>
        <p:spPr>
          <a:xfrm>
            <a:off x="3619800" y="50749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3"/>
          <p:cNvSpPr/>
          <p:nvPr/>
        </p:nvSpPr>
        <p:spPr>
          <a:xfrm>
            <a:off x="4214160" y="5074920"/>
            <a:ext cx="7473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Виконання CRUD-операції або пошуку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24"/>
          <p:cNvSpPr/>
          <p:nvPr/>
        </p:nvSpPr>
        <p:spPr>
          <a:xfrm>
            <a:off x="3619800" y="5623560"/>
            <a:ext cx="456840" cy="456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5"/>
          <p:cNvSpPr/>
          <p:nvPr/>
        </p:nvSpPr>
        <p:spPr>
          <a:xfrm>
            <a:off x="3619800" y="56235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6"/>
          <p:cNvSpPr/>
          <p:nvPr/>
        </p:nvSpPr>
        <p:spPr>
          <a:xfrm>
            <a:off x="4214160" y="5623560"/>
            <a:ext cx="7473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Збереження змін у JSON-файли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7"/>
          <p:cNvSpPr/>
          <p:nvPr/>
        </p:nvSpPr>
        <p:spPr>
          <a:xfrm>
            <a:off x="3619800" y="6172200"/>
            <a:ext cx="456840" cy="4568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8"/>
          <p:cNvSpPr/>
          <p:nvPr/>
        </p:nvSpPr>
        <p:spPr>
          <a:xfrm>
            <a:off x="3619800" y="6172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9"/>
          <p:cNvSpPr/>
          <p:nvPr/>
        </p:nvSpPr>
        <p:spPr>
          <a:xfrm>
            <a:off x="4214160" y="6172200"/>
            <a:ext cx="7473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Повернення до меню або вихід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0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Курсовий проєкт · ПР-214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31"/>
          <p:cNvSpPr/>
          <p:nvPr/>
        </p:nvSpPr>
        <p:spPr>
          <a:xfrm>
            <a:off x="1127736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8 / 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/>
          <p:nvPr/>
        </p:nvSpPr>
        <p:spPr>
          <a:xfrm>
            <a:off x="457200" y="36576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РОЗДІЛ 2.3 · ФАЙЛОВА ОРГАНІЗАЦІЯ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"/>
          <p:cNvSpPr/>
          <p:nvPr/>
        </p:nvSpPr>
        <p:spPr>
          <a:xfrm>
            <a:off x="457200" y="685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Повна структура проєкту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"/>
          <p:cNvSpPr/>
          <p:nvPr/>
        </p:nvSpPr>
        <p:spPr>
          <a:xfrm>
            <a:off x="365760" y="1600200"/>
            <a:ext cx="6217560" cy="5028840"/>
          </a:xfrm>
          <a:prstGeom prst="rect">
            <a:avLst/>
          </a:prstGeom>
          <a:solidFill>
            <a:srgbClr val="12173D"/>
          </a:solidFill>
          <a:ln w="12700">
            <a:solidFill>
              <a:srgbClr val="1217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3"/>
          <p:cNvSpPr/>
          <p:nvPr/>
        </p:nvSpPr>
        <p:spPr>
          <a:xfrm>
            <a:off x="502920" y="1691640"/>
            <a:ext cx="598896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CourseProject/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├── include/                            ← заголовки (.h)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├── common/operation_result.h       результат операції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├── headers/                        UI-обробники сутностей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│   └── {teacher,discipline,group,workload}.h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├── repositories/                   CRUD-інтерфейси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│   └── {teacher,discipline,group,workload}_repository.h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├── services/                       бізнес-логіка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│   └── {teacher,discipline,group,workload}_service.h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├── storage/json_storage.h          робота з файлами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├── ui/{input,menu_handlers,search,table}.h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├── utils/string_utils.h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├── nlohmann/json.hpp               зовнішня бібліотека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├── models.h                        ← всі моделі даних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└── ui.h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├── src/                                ← реалізації (.cpp)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├── app/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│   ├── repositories/*.cpp          (4 файли)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│   └── {teacher,discipline,group,workload}.cpp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├── services/*_service.cpp          (4 файли)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├── storage/json_storage.cpp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├── ui/{input,menu_handlers,search}.cpp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├── utils/string_utils.cpp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├── main.cpp                        ← точка входу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└── ui.cpp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├── Output/                             ← дані (створюються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└── {Teachers,Disciplines,             автоматично)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│        Groups,Workloads}.json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├── CMakeLists.txt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├── build.sh / build.bat / run.sh / run.bat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1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└── README.md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4"/>
          <p:cNvSpPr/>
          <p:nvPr/>
        </p:nvSpPr>
        <p:spPr>
          <a:xfrm>
            <a:off x="6949440" y="1600200"/>
            <a:ext cx="4784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Принцип організації: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5"/>
          <p:cNvSpPr/>
          <p:nvPr/>
        </p:nvSpPr>
        <p:spPr>
          <a:xfrm>
            <a:off x="6949440" y="2148840"/>
            <a:ext cx="411120" cy="4111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6"/>
          <p:cNvSpPr/>
          <p:nvPr/>
        </p:nvSpPr>
        <p:spPr>
          <a:xfrm>
            <a:off x="6949440" y="21488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7"/>
          <p:cNvSpPr/>
          <p:nvPr/>
        </p:nvSpPr>
        <p:spPr>
          <a:xfrm>
            <a:off x="7498080" y="2103120"/>
            <a:ext cx="4144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include/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8"/>
          <p:cNvSpPr/>
          <p:nvPr/>
        </p:nvSpPr>
        <p:spPr>
          <a:xfrm>
            <a:off x="7498080" y="2423160"/>
            <a:ext cx="4144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Заголовки .h — оголошення функцій і класів. Відокремлено від реалізації для чистих залежностей.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9"/>
          <p:cNvSpPr/>
          <p:nvPr/>
        </p:nvSpPr>
        <p:spPr>
          <a:xfrm>
            <a:off x="6949440" y="3108960"/>
            <a:ext cx="411120" cy="4111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0"/>
          <p:cNvSpPr/>
          <p:nvPr/>
        </p:nvSpPr>
        <p:spPr>
          <a:xfrm>
            <a:off x="6949440" y="31089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1"/>
          <p:cNvSpPr/>
          <p:nvPr/>
        </p:nvSpPr>
        <p:spPr>
          <a:xfrm>
            <a:off x="7498080" y="3063240"/>
            <a:ext cx="4144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src/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2"/>
          <p:cNvSpPr/>
          <p:nvPr/>
        </p:nvSpPr>
        <p:spPr>
          <a:xfrm>
            <a:off x="7498080" y="3383280"/>
            <a:ext cx="4144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Реалізації .cpp — повна логіка програми. Кожен файл відповідає за одну сутність або шар.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3"/>
          <p:cNvSpPr/>
          <p:nvPr/>
        </p:nvSpPr>
        <p:spPr>
          <a:xfrm>
            <a:off x="6949440" y="4069080"/>
            <a:ext cx="411120" cy="4111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4"/>
          <p:cNvSpPr/>
          <p:nvPr/>
        </p:nvSpPr>
        <p:spPr>
          <a:xfrm>
            <a:off x="6949440" y="40690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5"/>
          <p:cNvSpPr/>
          <p:nvPr/>
        </p:nvSpPr>
        <p:spPr>
          <a:xfrm>
            <a:off x="7498080" y="4023360"/>
            <a:ext cx="4144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Output/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6"/>
          <p:cNvSpPr/>
          <p:nvPr/>
        </p:nvSpPr>
        <p:spPr>
          <a:xfrm>
            <a:off x="7498080" y="4343400"/>
            <a:ext cx="4144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Дані в JSON-форматі. Створюється автоматично при першому збереженні.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7"/>
          <p:cNvSpPr/>
          <p:nvPr/>
        </p:nvSpPr>
        <p:spPr>
          <a:xfrm>
            <a:off x="6949440" y="5029200"/>
            <a:ext cx="411120" cy="4111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8"/>
          <p:cNvSpPr/>
          <p:nvPr/>
        </p:nvSpPr>
        <p:spPr>
          <a:xfrm>
            <a:off x="6949440" y="50292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9"/>
          <p:cNvSpPr/>
          <p:nvPr/>
        </p:nvSpPr>
        <p:spPr>
          <a:xfrm>
            <a:off x="7498080" y="4983480"/>
            <a:ext cx="4144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Скрипти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0"/>
          <p:cNvSpPr/>
          <p:nvPr/>
        </p:nvSpPr>
        <p:spPr>
          <a:xfrm>
            <a:off x="7498080" y="5303520"/>
            <a:ext cx="4144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build.sh / .bat — збірка; run.sh / .bat — запуск. Працюють на Linux і Windows.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1"/>
          <p:cNvSpPr/>
          <p:nvPr/>
        </p:nvSpPr>
        <p:spPr>
          <a:xfrm>
            <a:off x="6949440" y="5989320"/>
            <a:ext cx="411120" cy="4111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2"/>
          <p:cNvSpPr/>
          <p:nvPr/>
        </p:nvSpPr>
        <p:spPr>
          <a:xfrm>
            <a:off x="6949440" y="59893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3"/>
          <p:cNvSpPr/>
          <p:nvPr/>
        </p:nvSpPr>
        <p:spPr>
          <a:xfrm>
            <a:off x="7498080" y="5943600"/>
            <a:ext cx="4144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nlohmann/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4"/>
          <p:cNvSpPr/>
          <p:nvPr/>
        </p:nvSpPr>
        <p:spPr>
          <a:xfrm>
            <a:off x="7498080" y="6263640"/>
            <a:ext cx="4144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Header-only бібліотека для JSON. Не потребує окремої збірки.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5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Курсовий проєкт · ПР-214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6"/>
          <p:cNvSpPr/>
          <p:nvPr/>
        </p:nvSpPr>
        <p:spPr>
          <a:xfrm>
            <a:off x="1127736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9 / 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 0"/>
          <p:cNvSpPr/>
          <p:nvPr/>
        </p:nvSpPr>
        <p:spPr>
          <a:xfrm>
            <a:off x="457200" y="36576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РОЗДІЛ 2.2 · ПОТІК ДАНИХ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"/>
          <p:cNvSpPr/>
          <p:nvPr/>
        </p:nvSpPr>
        <p:spPr>
          <a:xfrm>
            <a:off x="457200" y="685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Детальна схема взаємодії файлів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5" name="Image 0" descr="/home/claude/kursach/diagrams/seq.png"/>
          <p:cNvPicPr/>
          <p:nvPr/>
        </p:nvPicPr>
        <p:blipFill>
          <a:blip r:embed="rId1"/>
          <a:stretch/>
        </p:blipFill>
        <p:spPr>
          <a:xfrm>
            <a:off x="457200" y="1554480"/>
            <a:ext cx="4875840" cy="502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 2"/>
          <p:cNvSpPr/>
          <p:nvPr/>
        </p:nvSpPr>
        <p:spPr>
          <a:xfrm>
            <a:off x="5973480" y="1554480"/>
            <a:ext cx="5760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Порядок виклику функцій: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3"/>
          <p:cNvSpPr/>
          <p:nvPr/>
        </p:nvSpPr>
        <p:spPr>
          <a:xfrm>
            <a:off x="5973480" y="1965960"/>
            <a:ext cx="411120" cy="411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4"/>
          <p:cNvSpPr/>
          <p:nvPr/>
        </p:nvSpPr>
        <p:spPr>
          <a:xfrm>
            <a:off x="5973480" y="19659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5"/>
          <p:cNvSpPr/>
          <p:nvPr/>
        </p:nvSpPr>
        <p:spPr>
          <a:xfrm>
            <a:off x="6522120" y="1965960"/>
            <a:ext cx="5212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Користувач запускає програму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6"/>
          <p:cNvSpPr/>
          <p:nvPr/>
        </p:nvSpPr>
        <p:spPr>
          <a:xfrm>
            <a:off x="5973480" y="2441520"/>
            <a:ext cx="411120" cy="411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7"/>
          <p:cNvSpPr/>
          <p:nvPr/>
        </p:nvSpPr>
        <p:spPr>
          <a:xfrm>
            <a:off x="5973480" y="24415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8"/>
          <p:cNvSpPr/>
          <p:nvPr/>
        </p:nvSpPr>
        <p:spPr>
          <a:xfrm>
            <a:off x="6522120" y="2441520"/>
            <a:ext cx="5212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main() викликає ShowObjects()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9"/>
          <p:cNvSpPr/>
          <p:nvPr/>
        </p:nvSpPr>
        <p:spPr>
          <a:xfrm>
            <a:off x="5973480" y="2917080"/>
            <a:ext cx="411120" cy="411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0"/>
          <p:cNvSpPr/>
          <p:nvPr/>
        </p:nvSpPr>
        <p:spPr>
          <a:xfrm>
            <a:off x="5973480" y="29170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1"/>
          <p:cNvSpPr/>
          <p:nvPr/>
        </p:nvSpPr>
        <p:spPr>
          <a:xfrm>
            <a:off x="6522120" y="2917080"/>
            <a:ext cx="5212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Меню → користувач обирає 1–5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2"/>
          <p:cNvSpPr/>
          <p:nvPr/>
        </p:nvSpPr>
        <p:spPr>
          <a:xfrm>
            <a:off x="5973480" y="3392280"/>
            <a:ext cx="411120" cy="411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3"/>
          <p:cNvSpPr/>
          <p:nvPr/>
        </p:nvSpPr>
        <p:spPr>
          <a:xfrm>
            <a:off x="5973480" y="33922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4"/>
          <p:cNvSpPr/>
          <p:nvPr/>
        </p:nvSpPr>
        <p:spPr>
          <a:xfrm>
            <a:off x="6522120" y="3392280"/>
            <a:ext cx="5212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menu_handlers викликає Handle{Entity}Menu()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5"/>
          <p:cNvSpPr/>
          <p:nvPr/>
        </p:nvSpPr>
        <p:spPr>
          <a:xfrm>
            <a:off x="5973480" y="3867840"/>
            <a:ext cx="411120" cy="411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6"/>
          <p:cNvSpPr/>
          <p:nvPr/>
        </p:nvSpPr>
        <p:spPr>
          <a:xfrm>
            <a:off x="5973480" y="38678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7"/>
          <p:cNvSpPr/>
          <p:nvPr/>
        </p:nvSpPr>
        <p:spPr>
          <a:xfrm>
            <a:off x="6522120" y="3867840"/>
            <a:ext cx="5212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input.cpp читає дані з консолі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8"/>
          <p:cNvSpPr/>
          <p:nvPr/>
        </p:nvSpPr>
        <p:spPr>
          <a:xfrm>
            <a:off x="5973480" y="4343400"/>
            <a:ext cx="411120" cy="411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9"/>
          <p:cNvSpPr/>
          <p:nvPr/>
        </p:nvSpPr>
        <p:spPr>
          <a:xfrm>
            <a:off x="5973480" y="43434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0"/>
          <p:cNvSpPr/>
          <p:nvPr/>
        </p:nvSpPr>
        <p:spPr>
          <a:xfrm>
            <a:off x="6522120" y="4343400"/>
            <a:ext cx="5212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UI передає модель у Service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1"/>
          <p:cNvSpPr/>
          <p:nvPr/>
        </p:nvSpPr>
        <p:spPr>
          <a:xfrm>
            <a:off x="5973480" y="4818960"/>
            <a:ext cx="411120" cy="411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2"/>
          <p:cNvSpPr/>
          <p:nvPr/>
        </p:nvSpPr>
        <p:spPr>
          <a:xfrm>
            <a:off x="5973480" y="48189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3"/>
          <p:cNvSpPr/>
          <p:nvPr/>
        </p:nvSpPr>
        <p:spPr>
          <a:xfrm>
            <a:off x="6522120" y="4818960"/>
            <a:ext cx="5212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Service викликає Validate, потім Repository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4"/>
          <p:cNvSpPr/>
          <p:nvPr/>
        </p:nvSpPr>
        <p:spPr>
          <a:xfrm>
            <a:off x="5973480" y="5294520"/>
            <a:ext cx="411120" cy="411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5"/>
          <p:cNvSpPr/>
          <p:nvPr/>
        </p:nvSpPr>
        <p:spPr>
          <a:xfrm>
            <a:off x="5973480" y="52945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6"/>
          <p:cNvSpPr/>
          <p:nvPr/>
        </p:nvSpPr>
        <p:spPr>
          <a:xfrm>
            <a:off x="6522120" y="5294520"/>
            <a:ext cx="5212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Repository → WriteJsonArray()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7"/>
          <p:cNvSpPr/>
          <p:nvPr/>
        </p:nvSpPr>
        <p:spPr>
          <a:xfrm>
            <a:off x="5973480" y="5769720"/>
            <a:ext cx="411120" cy="411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8"/>
          <p:cNvSpPr/>
          <p:nvPr/>
        </p:nvSpPr>
        <p:spPr>
          <a:xfrm>
            <a:off x="5973480" y="57697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9"/>
          <p:cNvSpPr/>
          <p:nvPr/>
        </p:nvSpPr>
        <p:spPr>
          <a:xfrm>
            <a:off x="6522120" y="5769720"/>
            <a:ext cx="5212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Дані записуються у JSON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30"/>
          <p:cNvSpPr/>
          <p:nvPr/>
        </p:nvSpPr>
        <p:spPr>
          <a:xfrm>
            <a:off x="5973480" y="6245280"/>
            <a:ext cx="411120" cy="411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1"/>
          <p:cNvSpPr/>
          <p:nvPr/>
        </p:nvSpPr>
        <p:spPr>
          <a:xfrm>
            <a:off x="5973480" y="62452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2"/>
          <p:cNvSpPr/>
          <p:nvPr/>
        </p:nvSpPr>
        <p:spPr>
          <a:xfrm>
            <a:off x="6522120" y="6245280"/>
            <a:ext cx="5212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Повертається OperationResult з повідомленням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3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Курсовий проєкт · ПР-214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4"/>
          <p:cNvSpPr/>
          <p:nvPr/>
        </p:nvSpPr>
        <p:spPr>
          <a:xfrm>
            <a:off x="1127736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10 / 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 0"/>
          <p:cNvSpPr/>
          <p:nvPr/>
        </p:nvSpPr>
        <p:spPr>
          <a:xfrm>
            <a:off x="457200" y="36576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РОЗДІЛ 2.2 · ПОВНИЙ ОПИС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"/>
          <p:cNvSpPr/>
          <p:nvPr/>
        </p:nvSpPr>
        <p:spPr>
          <a:xfrm>
            <a:off x="457200" y="685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Усі функції системи за шарами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2"/>
          <p:cNvSpPr/>
          <p:nvPr/>
        </p:nvSpPr>
        <p:spPr>
          <a:xfrm>
            <a:off x="365760" y="1554480"/>
            <a:ext cx="2773080" cy="365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"/>
          <p:cNvSpPr/>
          <p:nvPr/>
        </p:nvSpPr>
        <p:spPr>
          <a:xfrm>
            <a:off x="365760" y="1554480"/>
            <a:ext cx="277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UI layer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4"/>
          <p:cNvSpPr/>
          <p:nvPr/>
        </p:nvSpPr>
        <p:spPr>
          <a:xfrm>
            <a:off x="365760" y="1920240"/>
            <a:ext cx="2773080" cy="4937400"/>
          </a:xfrm>
          <a:prstGeom prst="rect">
            <a:avLst/>
          </a:prstGeom>
          <a:solidFill>
            <a:srgbClr val="E3F2FD"/>
          </a:solidFill>
          <a:ln w="635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5"/>
          <p:cNvSpPr/>
          <p:nvPr/>
        </p:nvSpPr>
        <p:spPr>
          <a:xfrm>
            <a:off x="457200" y="201168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main()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6"/>
          <p:cNvSpPr/>
          <p:nvPr/>
        </p:nvSpPr>
        <p:spPr>
          <a:xfrm>
            <a:off x="457200" y="217620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точка входу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7"/>
          <p:cNvSpPr/>
          <p:nvPr/>
        </p:nvSpPr>
        <p:spPr>
          <a:xfrm>
            <a:off x="457200" y="234072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ShowObjects()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8"/>
          <p:cNvSpPr/>
          <p:nvPr/>
        </p:nvSpPr>
        <p:spPr>
          <a:xfrm>
            <a:off x="457200" y="250560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головне меню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9"/>
          <p:cNvSpPr/>
          <p:nvPr/>
        </p:nvSpPr>
        <p:spPr>
          <a:xfrm>
            <a:off x="457200" y="267012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ShowOptions()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0"/>
          <p:cNvSpPr/>
          <p:nvPr/>
        </p:nvSpPr>
        <p:spPr>
          <a:xfrm>
            <a:off x="457200" y="283464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CRUD-меню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1"/>
          <p:cNvSpPr/>
          <p:nvPr/>
        </p:nvSpPr>
        <p:spPr>
          <a:xfrm>
            <a:off x="457200" y="299916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HandleTeacherMenu()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2"/>
          <p:cNvSpPr/>
          <p:nvPr/>
        </p:nvSpPr>
        <p:spPr>
          <a:xfrm>
            <a:off x="457200" y="316368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розділ викладачів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3"/>
          <p:cNvSpPr/>
          <p:nvPr/>
        </p:nvSpPr>
        <p:spPr>
          <a:xfrm>
            <a:off x="457200" y="332856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HandleDisciplineMenu()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4"/>
          <p:cNvSpPr/>
          <p:nvPr/>
        </p:nvSpPr>
        <p:spPr>
          <a:xfrm>
            <a:off x="457200" y="349308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розділ дисциплін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5"/>
          <p:cNvSpPr/>
          <p:nvPr/>
        </p:nvSpPr>
        <p:spPr>
          <a:xfrm>
            <a:off x="457200" y="365760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HandleGroupMenu()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6"/>
          <p:cNvSpPr/>
          <p:nvPr/>
        </p:nvSpPr>
        <p:spPr>
          <a:xfrm>
            <a:off x="457200" y="382212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розділ груп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7"/>
          <p:cNvSpPr/>
          <p:nvPr/>
        </p:nvSpPr>
        <p:spPr>
          <a:xfrm>
            <a:off x="457200" y="398664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HandleWorkloadMenu()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8"/>
          <p:cNvSpPr/>
          <p:nvPr/>
        </p:nvSpPr>
        <p:spPr>
          <a:xfrm>
            <a:off x="457200" y="415152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розділ навантаження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9"/>
          <p:cNvSpPr/>
          <p:nvPr/>
        </p:nvSpPr>
        <p:spPr>
          <a:xfrm>
            <a:off x="457200" y="431604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HandleSearchMenu()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0"/>
          <p:cNvSpPr/>
          <p:nvPr/>
        </p:nvSpPr>
        <p:spPr>
          <a:xfrm>
            <a:off x="457200" y="448056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пошук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1"/>
          <p:cNvSpPr/>
          <p:nvPr/>
        </p:nvSpPr>
        <p:spPr>
          <a:xfrm>
            <a:off x="457200" y="464508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Handle*Create()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2"/>
          <p:cNvSpPr/>
          <p:nvPr/>
        </p:nvSpPr>
        <p:spPr>
          <a:xfrm>
            <a:off x="457200" y="480960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введення + створення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3"/>
          <p:cNvSpPr/>
          <p:nvPr/>
        </p:nvSpPr>
        <p:spPr>
          <a:xfrm>
            <a:off x="457200" y="497448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Handle*Print()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4"/>
          <p:cNvSpPr/>
          <p:nvPr/>
        </p:nvSpPr>
        <p:spPr>
          <a:xfrm>
            <a:off x="457200" y="513900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виведення таблиці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5"/>
          <p:cNvSpPr/>
          <p:nvPr/>
        </p:nvSpPr>
        <p:spPr>
          <a:xfrm>
            <a:off x="457200" y="530352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Handle*Edit()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6"/>
          <p:cNvSpPr/>
          <p:nvPr/>
        </p:nvSpPr>
        <p:spPr>
          <a:xfrm>
            <a:off x="457200" y="546804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редагування за ID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7"/>
          <p:cNvSpPr/>
          <p:nvPr/>
        </p:nvSpPr>
        <p:spPr>
          <a:xfrm>
            <a:off x="457200" y="563256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Handle*Delete()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8"/>
          <p:cNvSpPr/>
          <p:nvPr/>
        </p:nvSpPr>
        <p:spPr>
          <a:xfrm>
            <a:off x="457200" y="579744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видалення за ID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9"/>
          <p:cNvSpPr/>
          <p:nvPr/>
        </p:nvSpPr>
        <p:spPr>
          <a:xfrm>
            <a:off x="457200" y="596196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ReadLine() / ReadUInt()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30"/>
          <p:cNvSpPr/>
          <p:nvPr/>
        </p:nvSpPr>
        <p:spPr>
          <a:xfrm>
            <a:off x="457200" y="612648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введення даних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31"/>
          <p:cNvSpPr/>
          <p:nvPr/>
        </p:nvSpPr>
        <p:spPr>
          <a:xfrm>
            <a:off x="3230640" y="1554480"/>
            <a:ext cx="2773080" cy="365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32"/>
          <p:cNvSpPr/>
          <p:nvPr/>
        </p:nvSpPr>
        <p:spPr>
          <a:xfrm>
            <a:off x="3230640" y="1554480"/>
            <a:ext cx="277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Service layer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33"/>
          <p:cNvSpPr/>
          <p:nvPr/>
        </p:nvSpPr>
        <p:spPr>
          <a:xfrm>
            <a:off x="3230640" y="1920240"/>
            <a:ext cx="2773080" cy="4937400"/>
          </a:xfrm>
          <a:prstGeom prst="rect">
            <a:avLst/>
          </a:prstGeom>
          <a:solidFill>
            <a:srgbClr val="E8F5E9"/>
          </a:solidFill>
          <a:ln w="635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34"/>
          <p:cNvSpPr/>
          <p:nvPr/>
        </p:nvSpPr>
        <p:spPr>
          <a:xfrm>
            <a:off x="3322080" y="201168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ValidateTeacher()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35"/>
          <p:cNvSpPr/>
          <p:nvPr/>
        </p:nvSpPr>
        <p:spPr>
          <a:xfrm>
            <a:off x="3322080" y="217620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ПІБ, комісія, квота &gt; 0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36"/>
          <p:cNvSpPr/>
          <p:nvPr/>
        </p:nvSpPr>
        <p:spPr>
          <a:xfrm>
            <a:off x="3322080" y="234072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CreateTeacher()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37"/>
          <p:cNvSpPr/>
          <p:nvPr/>
        </p:nvSpPr>
        <p:spPr>
          <a:xfrm>
            <a:off x="3322080" y="250560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валідація + Save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38"/>
          <p:cNvSpPr/>
          <p:nvPr/>
        </p:nvSpPr>
        <p:spPr>
          <a:xfrm>
            <a:off x="3322080" y="267012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UpdateTeacher()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39"/>
          <p:cNvSpPr/>
          <p:nvPr/>
        </p:nvSpPr>
        <p:spPr>
          <a:xfrm>
            <a:off x="3322080" y="283464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пошук + валід. + Edit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40"/>
          <p:cNvSpPr/>
          <p:nvPr/>
        </p:nvSpPr>
        <p:spPr>
          <a:xfrm>
            <a:off x="3322080" y="299916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DeleteTeacher()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41"/>
          <p:cNvSpPr/>
          <p:nvPr/>
        </p:nvSpPr>
        <p:spPr>
          <a:xfrm>
            <a:off x="3322080" y="316368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перевірка зв'язків + Del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42"/>
          <p:cNvSpPr/>
          <p:nvPr/>
        </p:nvSpPr>
        <p:spPr>
          <a:xfrm>
            <a:off x="3322080" y="332856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ValidateDiscipline()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43"/>
          <p:cNvSpPr/>
          <p:nvPr/>
        </p:nvSpPr>
        <p:spPr>
          <a:xfrm>
            <a:off x="3322080" y="349308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назва, години &gt; 0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44"/>
          <p:cNvSpPr/>
          <p:nvPr/>
        </p:nvSpPr>
        <p:spPr>
          <a:xfrm>
            <a:off x="3322080" y="365760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CreateDiscipline()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45"/>
          <p:cNvSpPr/>
          <p:nvPr/>
        </p:nvSpPr>
        <p:spPr>
          <a:xfrm>
            <a:off x="3322080" y="382212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+ перевірка квоти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46"/>
          <p:cNvSpPr/>
          <p:nvPr/>
        </p:nvSpPr>
        <p:spPr>
          <a:xfrm>
            <a:off x="3322080" y="398664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ValidateGroup()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47"/>
          <p:cNvSpPr/>
          <p:nvPr/>
        </p:nvSpPr>
        <p:spPr>
          <a:xfrm>
            <a:off x="3322080" y="415152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назва, курс 1-4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48"/>
          <p:cNvSpPr/>
          <p:nvPr/>
        </p:nvSpPr>
        <p:spPr>
          <a:xfrm>
            <a:off x="3322080" y="431604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CreateGroup()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49"/>
          <p:cNvSpPr/>
          <p:nvPr/>
        </p:nvSpPr>
        <p:spPr>
          <a:xfrm>
            <a:off x="3322080" y="448056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+ спеціальність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50"/>
          <p:cNvSpPr/>
          <p:nvPr/>
        </p:nvSpPr>
        <p:spPr>
          <a:xfrm>
            <a:off x="3322080" y="464508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ValidateWorkload()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51"/>
          <p:cNvSpPr/>
          <p:nvPr/>
        </p:nvSpPr>
        <p:spPr>
          <a:xfrm>
            <a:off x="3322080" y="480960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ID існують, без дублів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52"/>
          <p:cNvSpPr/>
          <p:nvPr/>
        </p:nvSpPr>
        <p:spPr>
          <a:xfrm>
            <a:off x="3322080" y="497448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CreateWorkload()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53"/>
          <p:cNvSpPr/>
          <p:nvPr/>
        </p:nvSpPr>
        <p:spPr>
          <a:xfrm>
            <a:off x="3322080" y="513900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+ контроль квот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54"/>
          <p:cNvSpPr/>
          <p:nvPr/>
        </p:nvSpPr>
        <p:spPr>
          <a:xfrm>
            <a:off x="3322080" y="530352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UpdateWorkload()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55"/>
          <p:cNvSpPr/>
          <p:nvPr/>
        </p:nvSpPr>
        <p:spPr>
          <a:xfrm>
            <a:off x="3322080" y="546804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+ виключення поточного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56"/>
          <p:cNvSpPr/>
          <p:nvPr/>
        </p:nvSpPr>
        <p:spPr>
          <a:xfrm>
            <a:off x="3322080" y="563256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DeleteWorkload()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57"/>
          <p:cNvSpPr/>
          <p:nvPr/>
        </p:nvSpPr>
        <p:spPr>
          <a:xfrm>
            <a:off x="3322080" y="579744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без зв'язків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58"/>
          <p:cNvSpPr/>
          <p:nvPr/>
        </p:nvSpPr>
        <p:spPr>
          <a:xfrm>
            <a:off x="6095880" y="1554480"/>
            <a:ext cx="2773080" cy="365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59"/>
          <p:cNvSpPr/>
          <p:nvPr/>
        </p:nvSpPr>
        <p:spPr>
          <a:xfrm>
            <a:off x="6095880" y="1554480"/>
            <a:ext cx="277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Repository layer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60"/>
          <p:cNvSpPr/>
          <p:nvPr/>
        </p:nvSpPr>
        <p:spPr>
          <a:xfrm>
            <a:off x="6095880" y="1920240"/>
            <a:ext cx="2773080" cy="4937400"/>
          </a:xfrm>
          <a:prstGeom prst="rect">
            <a:avLst/>
          </a:prstGeom>
          <a:solidFill>
            <a:srgbClr val="FFF3E0"/>
          </a:solidFill>
          <a:ln w="635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61"/>
          <p:cNvSpPr/>
          <p:nvPr/>
        </p:nvSpPr>
        <p:spPr>
          <a:xfrm>
            <a:off x="6187320" y="201168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SaveTeacher()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62"/>
          <p:cNvSpPr/>
          <p:nvPr/>
        </p:nvSpPr>
        <p:spPr>
          <a:xfrm>
            <a:off x="6187320" y="217620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додає у JSON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63"/>
          <p:cNvSpPr/>
          <p:nvPr/>
        </p:nvSpPr>
        <p:spPr>
          <a:xfrm>
            <a:off x="6187320" y="234072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GetTeacherById()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64"/>
          <p:cNvSpPr/>
          <p:nvPr/>
        </p:nvSpPr>
        <p:spPr>
          <a:xfrm>
            <a:off x="6187320" y="250560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пошук по id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65"/>
          <p:cNvSpPr/>
          <p:nvPr/>
        </p:nvSpPr>
        <p:spPr>
          <a:xfrm>
            <a:off x="6187320" y="267012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EditTeacherById()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66"/>
          <p:cNvSpPr/>
          <p:nvPr/>
        </p:nvSpPr>
        <p:spPr>
          <a:xfrm>
            <a:off x="6187320" y="283464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оновлення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67"/>
          <p:cNvSpPr/>
          <p:nvPr/>
        </p:nvSpPr>
        <p:spPr>
          <a:xfrm>
            <a:off x="6187320" y="299916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DeleteTeacherById()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68"/>
          <p:cNvSpPr/>
          <p:nvPr/>
        </p:nvSpPr>
        <p:spPr>
          <a:xfrm>
            <a:off x="6187320" y="316368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видалення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69"/>
          <p:cNvSpPr/>
          <p:nvPr/>
        </p:nvSpPr>
        <p:spPr>
          <a:xfrm>
            <a:off x="6187320" y="332856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GetLastTeacherId()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70"/>
          <p:cNvSpPr/>
          <p:nvPr/>
        </p:nvSpPr>
        <p:spPr>
          <a:xfrm>
            <a:off x="6187320" y="349308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max(id) + 1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71"/>
          <p:cNvSpPr/>
          <p:nvPr/>
        </p:nvSpPr>
        <p:spPr>
          <a:xfrm>
            <a:off x="6187320" y="365760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SaveDiscipline()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72"/>
          <p:cNvSpPr/>
          <p:nvPr/>
        </p:nvSpPr>
        <p:spPr>
          <a:xfrm>
            <a:off x="6187320" y="382212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аналогічно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73"/>
          <p:cNvSpPr/>
          <p:nvPr/>
        </p:nvSpPr>
        <p:spPr>
          <a:xfrm>
            <a:off x="6187320" y="398664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SaveGroup()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74"/>
          <p:cNvSpPr/>
          <p:nvPr/>
        </p:nvSpPr>
        <p:spPr>
          <a:xfrm>
            <a:off x="6187320" y="415152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аналогічно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75"/>
          <p:cNvSpPr/>
          <p:nvPr/>
        </p:nvSpPr>
        <p:spPr>
          <a:xfrm>
            <a:off x="6187320" y="431604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SaveWorkload()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76"/>
          <p:cNvSpPr/>
          <p:nvPr/>
        </p:nvSpPr>
        <p:spPr>
          <a:xfrm>
            <a:off x="6187320" y="448056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+ розрахунок total_hours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77"/>
          <p:cNvSpPr/>
          <p:nvPr/>
        </p:nvSpPr>
        <p:spPr>
          <a:xfrm>
            <a:off x="6187320" y="464508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GetWorkloads()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78"/>
          <p:cNvSpPr/>
          <p:nvPr/>
        </p:nvSpPr>
        <p:spPr>
          <a:xfrm>
            <a:off x="6187320" y="480960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всі записи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79"/>
          <p:cNvSpPr/>
          <p:nvPr/>
        </p:nvSpPr>
        <p:spPr>
          <a:xfrm>
            <a:off x="6187320" y="497448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HasWorkloadForTeacher()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80"/>
          <p:cNvSpPr/>
          <p:nvPr/>
        </p:nvSpPr>
        <p:spPr>
          <a:xfrm>
            <a:off x="6187320" y="513900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перевірка зв'язку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81"/>
          <p:cNvSpPr/>
          <p:nvPr/>
        </p:nvSpPr>
        <p:spPr>
          <a:xfrm>
            <a:off x="6187320" y="530352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HasWorkloadForGroup()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82"/>
          <p:cNvSpPr/>
          <p:nvPr/>
        </p:nvSpPr>
        <p:spPr>
          <a:xfrm>
            <a:off x="6187320" y="546804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перевірка зв'язку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83"/>
          <p:cNvSpPr/>
          <p:nvPr/>
        </p:nvSpPr>
        <p:spPr>
          <a:xfrm>
            <a:off x="6187320" y="563256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HasWorkloadForDiscipl()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84"/>
          <p:cNvSpPr/>
          <p:nvPr/>
        </p:nvSpPr>
        <p:spPr>
          <a:xfrm>
            <a:off x="6187320" y="579744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перевірка зв'язку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85"/>
          <p:cNvSpPr/>
          <p:nvPr/>
        </p:nvSpPr>
        <p:spPr>
          <a:xfrm>
            <a:off x="8960760" y="1554480"/>
            <a:ext cx="2773080" cy="365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86"/>
          <p:cNvSpPr/>
          <p:nvPr/>
        </p:nvSpPr>
        <p:spPr>
          <a:xfrm>
            <a:off x="8960760" y="1554480"/>
            <a:ext cx="277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Storage + Utils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87"/>
          <p:cNvSpPr/>
          <p:nvPr/>
        </p:nvSpPr>
        <p:spPr>
          <a:xfrm>
            <a:off x="8960760" y="1920240"/>
            <a:ext cx="2773080" cy="4937400"/>
          </a:xfrm>
          <a:prstGeom prst="rect">
            <a:avLst/>
          </a:prstGeom>
          <a:solidFill>
            <a:srgbClr val="FFEBEE"/>
          </a:solidFill>
          <a:ln w="635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88"/>
          <p:cNvSpPr/>
          <p:nvPr/>
        </p:nvSpPr>
        <p:spPr>
          <a:xfrm>
            <a:off x="9052200" y="201168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ReadJsonArray(path)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89"/>
          <p:cNvSpPr/>
          <p:nvPr/>
        </p:nvSpPr>
        <p:spPr>
          <a:xfrm>
            <a:off x="9052200" y="217620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читання масиву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90"/>
          <p:cNvSpPr/>
          <p:nvPr/>
        </p:nvSpPr>
        <p:spPr>
          <a:xfrm>
            <a:off x="9052200" y="234072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WriteJsonArray(path, j)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91"/>
          <p:cNvSpPr/>
          <p:nvPr/>
        </p:nvSpPr>
        <p:spPr>
          <a:xfrm>
            <a:off x="9052200" y="250560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запис із форматуванням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92"/>
          <p:cNvSpPr/>
          <p:nvPr/>
        </p:nvSpPr>
        <p:spPr>
          <a:xfrm>
            <a:off x="9052200" y="276156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Trim(s)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93"/>
          <p:cNvSpPr/>
          <p:nvPr/>
        </p:nvSpPr>
        <p:spPr>
          <a:xfrm>
            <a:off x="9052200" y="292608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обрізати пробіли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94"/>
          <p:cNvSpPr/>
          <p:nvPr/>
        </p:nvSpPr>
        <p:spPr>
          <a:xfrm>
            <a:off x="9052200" y="309060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IsBlank(s)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95"/>
          <p:cNvSpPr/>
          <p:nvPr/>
        </p:nvSpPr>
        <p:spPr>
          <a:xfrm>
            <a:off x="9052200" y="325512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перевірка порожнього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96"/>
          <p:cNvSpPr/>
          <p:nvPr/>
        </p:nvSpPr>
        <p:spPr>
          <a:xfrm>
            <a:off x="9052200" y="342000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JoinIds(vec)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97"/>
          <p:cNvSpPr/>
          <p:nvPr/>
        </p:nvSpPr>
        <p:spPr>
          <a:xfrm>
            <a:off x="9052200" y="358452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склейка ID '1,2,3'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98"/>
          <p:cNvSpPr/>
          <p:nvPr/>
        </p:nvSpPr>
        <p:spPr>
          <a:xfrm>
            <a:off x="9052200" y="384048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OperationResult::Ok()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99"/>
          <p:cNvSpPr/>
          <p:nvPr/>
        </p:nvSpPr>
        <p:spPr>
          <a:xfrm>
            <a:off x="9052200" y="400500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успіх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00"/>
          <p:cNvSpPr/>
          <p:nvPr/>
        </p:nvSpPr>
        <p:spPr>
          <a:xfrm>
            <a:off x="9052200" y="416952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OperationResult::Fail(m)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01"/>
          <p:cNvSpPr/>
          <p:nvPr/>
        </p:nvSpPr>
        <p:spPr>
          <a:xfrm>
            <a:off x="9052200" y="433440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помилка з повідомленням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02"/>
          <p:cNvSpPr/>
          <p:nvPr/>
        </p:nvSpPr>
        <p:spPr>
          <a:xfrm>
            <a:off x="9052200" y="459036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nlohmann::json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03"/>
          <p:cNvSpPr/>
          <p:nvPr/>
        </p:nvSpPr>
        <p:spPr>
          <a:xfrm>
            <a:off x="9052200" y="475488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(зовнішня)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04"/>
          <p:cNvSpPr/>
          <p:nvPr/>
        </p:nvSpPr>
        <p:spPr>
          <a:xfrm>
            <a:off x="9052200" y="4919400"/>
            <a:ext cx="25902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F1840"/>
                </a:solidFill>
                <a:effectLst/>
                <a:uFillTx/>
                <a:latin typeface="Consolas"/>
                <a:ea typeface="Consolas"/>
              </a:rPr>
              <a:t>  parse / dump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05"/>
          <p:cNvSpPr/>
          <p:nvPr/>
        </p:nvSpPr>
        <p:spPr>
          <a:xfrm>
            <a:off x="9052200" y="5083920"/>
            <a:ext cx="2590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JSON ↔ string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0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Курсовий проєкт · ПР-214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07"/>
          <p:cNvSpPr/>
          <p:nvPr/>
        </p:nvSpPr>
        <p:spPr>
          <a:xfrm>
            <a:off x="1127736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11 / 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ext 0"/>
          <p:cNvSpPr/>
          <p:nvPr/>
        </p:nvSpPr>
        <p:spPr>
          <a:xfrm>
            <a:off x="457200" y="36576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РОЗДІЛ 2.3 · ІНСТРУМЕНТАРІЙ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"/>
          <p:cNvSpPr/>
          <p:nvPr/>
        </p:nvSpPr>
        <p:spPr>
          <a:xfrm>
            <a:off x="457200" y="685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Засоби програмування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2"/>
          <p:cNvSpPr/>
          <p:nvPr/>
        </p:nvSpPr>
        <p:spPr>
          <a:xfrm>
            <a:off x="457200" y="1691640"/>
            <a:ext cx="3702960" cy="210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3"/>
          <p:cNvSpPr/>
          <p:nvPr/>
        </p:nvSpPr>
        <p:spPr>
          <a:xfrm>
            <a:off x="731520" y="2057400"/>
            <a:ext cx="914040" cy="914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1" name="Image 0" descr="preencoded.png"/>
          <p:cNvPicPr/>
          <p:nvPr/>
        </p:nvPicPr>
        <p:blipFill>
          <a:blip r:embed="rId1"/>
          <a:stretch/>
        </p:blipFill>
        <p:spPr>
          <a:xfrm>
            <a:off x="960120" y="22860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2" name="Text 4"/>
          <p:cNvSpPr/>
          <p:nvPr/>
        </p:nvSpPr>
        <p:spPr>
          <a:xfrm>
            <a:off x="1828800" y="205740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C++ 20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5"/>
          <p:cNvSpPr/>
          <p:nvPr/>
        </p:nvSpPr>
        <p:spPr>
          <a:xfrm>
            <a:off x="1828800" y="2606040"/>
            <a:ext cx="2239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Сучасний стандарт мови, структури, вектори, файли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6"/>
          <p:cNvSpPr/>
          <p:nvPr/>
        </p:nvSpPr>
        <p:spPr>
          <a:xfrm>
            <a:off x="4343400" y="1691640"/>
            <a:ext cx="3702960" cy="210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7"/>
          <p:cNvSpPr/>
          <p:nvPr/>
        </p:nvSpPr>
        <p:spPr>
          <a:xfrm>
            <a:off x="4617720" y="2057400"/>
            <a:ext cx="914040" cy="914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6" name="Image 1" descr="preencoded.png"/>
          <p:cNvPicPr/>
          <p:nvPr/>
        </p:nvPicPr>
        <p:blipFill>
          <a:blip r:embed="rId2"/>
          <a:stretch/>
        </p:blipFill>
        <p:spPr>
          <a:xfrm>
            <a:off x="4846320" y="22860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7" name="Text 8"/>
          <p:cNvSpPr/>
          <p:nvPr/>
        </p:nvSpPr>
        <p:spPr>
          <a:xfrm>
            <a:off x="5715000" y="205740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nlohmann/json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9"/>
          <p:cNvSpPr/>
          <p:nvPr/>
        </p:nvSpPr>
        <p:spPr>
          <a:xfrm>
            <a:off x="5715000" y="2606040"/>
            <a:ext cx="2239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Header-only бібліотека для роботи з JSON-форматом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10"/>
          <p:cNvSpPr/>
          <p:nvPr/>
        </p:nvSpPr>
        <p:spPr>
          <a:xfrm>
            <a:off x="8229600" y="1691640"/>
            <a:ext cx="3702960" cy="210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11"/>
          <p:cNvSpPr/>
          <p:nvPr/>
        </p:nvSpPr>
        <p:spPr>
          <a:xfrm>
            <a:off x="8503920" y="2057400"/>
            <a:ext cx="914040" cy="914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1" name="Image 2" descr="preencoded.png"/>
          <p:cNvPicPr/>
          <p:nvPr/>
        </p:nvPicPr>
        <p:blipFill>
          <a:blip r:embed="rId3"/>
          <a:stretch/>
        </p:blipFill>
        <p:spPr>
          <a:xfrm>
            <a:off x="8732520" y="22860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2" name="Text 12"/>
          <p:cNvSpPr/>
          <p:nvPr/>
        </p:nvSpPr>
        <p:spPr>
          <a:xfrm>
            <a:off x="9601200" y="205740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CMake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3"/>
          <p:cNvSpPr/>
          <p:nvPr/>
        </p:nvSpPr>
        <p:spPr>
          <a:xfrm>
            <a:off x="9601200" y="2606040"/>
            <a:ext cx="2239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Система збірки крос-платформних проєктів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14"/>
          <p:cNvSpPr/>
          <p:nvPr/>
        </p:nvSpPr>
        <p:spPr>
          <a:xfrm>
            <a:off x="457200" y="3977640"/>
            <a:ext cx="3702960" cy="210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15"/>
          <p:cNvSpPr/>
          <p:nvPr/>
        </p:nvSpPr>
        <p:spPr>
          <a:xfrm>
            <a:off x="731520" y="4343400"/>
            <a:ext cx="914040" cy="914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6" name="Image 3" descr="preencoded.png"/>
          <p:cNvPicPr/>
          <p:nvPr/>
        </p:nvPicPr>
        <p:blipFill>
          <a:blip r:embed="rId4"/>
          <a:stretch/>
        </p:blipFill>
        <p:spPr>
          <a:xfrm>
            <a:off x="960120" y="45720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Text 16"/>
          <p:cNvSpPr/>
          <p:nvPr/>
        </p:nvSpPr>
        <p:spPr>
          <a:xfrm>
            <a:off x="1828800" y="434340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g++ / MSVC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7"/>
          <p:cNvSpPr/>
          <p:nvPr/>
        </p:nvSpPr>
        <p:spPr>
          <a:xfrm>
            <a:off x="1828800" y="4892040"/>
            <a:ext cx="2239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Компілятори C++20 для Linux та Windows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18"/>
          <p:cNvSpPr/>
          <p:nvPr/>
        </p:nvSpPr>
        <p:spPr>
          <a:xfrm>
            <a:off x="4343400" y="3977640"/>
            <a:ext cx="3702960" cy="210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19"/>
          <p:cNvSpPr/>
          <p:nvPr/>
        </p:nvSpPr>
        <p:spPr>
          <a:xfrm>
            <a:off x="4617720" y="4343400"/>
            <a:ext cx="914040" cy="914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1" name="Image 4" descr="preencoded.png"/>
          <p:cNvPicPr/>
          <p:nvPr/>
        </p:nvPicPr>
        <p:blipFill>
          <a:blip r:embed="rId5"/>
          <a:stretch/>
        </p:blipFill>
        <p:spPr>
          <a:xfrm>
            <a:off x="4846320" y="45720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2" name="Text 20"/>
          <p:cNvSpPr/>
          <p:nvPr/>
        </p:nvSpPr>
        <p:spPr>
          <a:xfrm>
            <a:off x="5715000" y="434340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VS 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21"/>
          <p:cNvSpPr/>
          <p:nvPr/>
        </p:nvSpPr>
        <p:spPr>
          <a:xfrm>
            <a:off x="5715000" y="4892040"/>
            <a:ext cx="2239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Середовище розробки з підсвіткою синтаксису та налагодженням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22"/>
          <p:cNvSpPr/>
          <p:nvPr/>
        </p:nvSpPr>
        <p:spPr>
          <a:xfrm>
            <a:off x="8229600" y="3977640"/>
            <a:ext cx="3702960" cy="210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23"/>
          <p:cNvSpPr/>
          <p:nvPr/>
        </p:nvSpPr>
        <p:spPr>
          <a:xfrm>
            <a:off x="8503920" y="4343400"/>
            <a:ext cx="914040" cy="914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6" name="Image 5" descr="preencoded.png"/>
          <p:cNvPicPr/>
          <p:nvPr/>
        </p:nvPicPr>
        <p:blipFill>
          <a:blip r:embed="rId6"/>
          <a:stretch/>
        </p:blipFill>
        <p:spPr>
          <a:xfrm>
            <a:off x="8732520" y="45720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Text 24"/>
          <p:cNvSpPr/>
          <p:nvPr/>
        </p:nvSpPr>
        <p:spPr>
          <a:xfrm>
            <a:off x="9601200" y="4343400"/>
            <a:ext cx="2239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build.sh / .bat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25"/>
          <p:cNvSpPr/>
          <p:nvPr/>
        </p:nvSpPr>
        <p:spPr>
          <a:xfrm>
            <a:off x="9601200" y="4892040"/>
            <a:ext cx="2239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Скрипти для зручної збірки та запуску на різних ОС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2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Курсовий проєкт · ПР-214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27"/>
          <p:cNvSpPr/>
          <p:nvPr/>
        </p:nvSpPr>
        <p:spPr>
          <a:xfrm>
            <a:off x="1127736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12 / 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Text 0"/>
          <p:cNvSpPr/>
          <p:nvPr/>
        </p:nvSpPr>
        <p:spPr>
          <a:xfrm>
            <a:off x="457200" y="36576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РОЗДІЛ 3 · РОБОТА ПРОГРАМИ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"/>
          <p:cNvSpPr/>
          <p:nvPr/>
        </p:nvSpPr>
        <p:spPr>
          <a:xfrm>
            <a:off x="457200" y="685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Демонстрація: головне меню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2"/>
          <p:cNvSpPr/>
          <p:nvPr/>
        </p:nvSpPr>
        <p:spPr>
          <a:xfrm>
            <a:off x="365760" y="1508760"/>
            <a:ext cx="5211720" cy="3269520"/>
          </a:xfrm>
          <a:prstGeom prst="rect">
            <a:avLst/>
          </a:prstGeom>
          <a:solidFill>
            <a:srgbClr val="12173D"/>
          </a:solidFill>
          <a:ln w="12700">
            <a:solidFill>
              <a:srgbClr val="1217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4" name="Image 0" descr="/home/claude/kursach/screenshots/ss_main_menu.png"/>
          <p:cNvPicPr/>
          <p:nvPr/>
        </p:nvPicPr>
        <p:blipFill>
          <a:blip r:embed="rId1"/>
          <a:stretch/>
        </p:blipFill>
        <p:spPr>
          <a:xfrm>
            <a:off x="457200" y="1691640"/>
            <a:ext cx="5028840" cy="308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5" name="Text 3"/>
          <p:cNvSpPr/>
          <p:nvPr/>
        </p:nvSpPr>
        <p:spPr>
          <a:xfrm>
            <a:off x="6126480" y="1691640"/>
            <a:ext cx="5607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Що бачить користувач: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4"/>
          <p:cNvSpPr/>
          <p:nvPr/>
        </p:nvSpPr>
        <p:spPr>
          <a:xfrm>
            <a:off x="6126480" y="210312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5"/>
          <p:cNvSpPr/>
          <p:nvPr/>
        </p:nvSpPr>
        <p:spPr>
          <a:xfrm>
            <a:off x="6537960" y="210312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Викладачі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6"/>
          <p:cNvSpPr/>
          <p:nvPr/>
        </p:nvSpPr>
        <p:spPr>
          <a:xfrm>
            <a:off x="6537960" y="235908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управління викладачами та їх квотами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7"/>
          <p:cNvSpPr/>
          <p:nvPr/>
        </p:nvSpPr>
        <p:spPr>
          <a:xfrm>
            <a:off x="6126480" y="274320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8"/>
          <p:cNvSpPr/>
          <p:nvPr/>
        </p:nvSpPr>
        <p:spPr>
          <a:xfrm>
            <a:off x="6537960" y="274320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Дисципліни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9"/>
          <p:cNvSpPr/>
          <p:nvPr/>
        </p:nvSpPr>
        <p:spPr>
          <a:xfrm>
            <a:off x="6537960" y="299916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перелік предметів і лімітів годин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0"/>
          <p:cNvSpPr/>
          <p:nvPr/>
        </p:nvSpPr>
        <p:spPr>
          <a:xfrm>
            <a:off x="6126480" y="338328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3.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1"/>
          <p:cNvSpPr/>
          <p:nvPr/>
        </p:nvSpPr>
        <p:spPr>
          <a:xfrm>
            <a:off x="6537960" y="338328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Групи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2"/>
          <p:cNvSpPr/>
          <p:nvPr/>
        </p:nvSpPr>
        <p:spPr>
          <a:xfrm>
            <a:off x="6537960" y="363924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навчальні групи з курсом і спеціальністю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3"/>
          <p:cNvSpPr/>
          <p:nvPr/>
        </p:nvSpPr>
        <p:spPr>
          <a:xfrm>
            <a:off x="6126480" y="402336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4"/>
          <p:cNvSpPr/>
          <p:nvPr/>
        </p:nvSpPr>
        <p:spPr>
          <a:xfrm>
            <a:off x="6537960" y="402336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Навантаження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5"/>
          <p:cNvSpPr/>
          <p:nvPr/>
        </p:nvSpPr>
        <p:spPr>
          <a:xfrm>
            <a:off x="6537960" y="427932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центральна сутність — розподіл годин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16"/>
          <p:cNvSpPr/>
          <p:nvPr/>
        </p:nvSpPr>
        <p:spPr>
          <a:xfrm>
            <a:off x="6126480" y="466344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5.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7"/>
          <p:cNvSpPr/>
          <p:nvPr/>
        </p:nvSpPr>
        <p:spPr>
          <a:xfrm>
            <a:off x="6537960" y="466344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Пошук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8"/>
          <p:cNvSpPr/>
          <p:nvPr/>
        </p:nvSpPr>
        <p:spPr>
          <a:xfrm>
            <a:off x="6537960" y="491940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глобальний пошук по всіх сутностях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9"/>
          <p:cNvSpPr/>
          <p:nvPr/>
        </p:nvSpPr>
        <p:spPr>
          <a:xfrm>
            <a:off x="6126480" y="530352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0.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0"/>
          <p:cNvSpPr/>
          <p:nvPr/>
        </p:nvSpPr>
        <p:spPr>
          <a:xfrm>
            <a:off x="6537960" y="5303520"/>
            <a:ext cx="1645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Вихід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21"/>
          <p:cNvSpPr/>
          <p:nvPr/>
        </p:nvSpPr>
        <p:spPr>
          <a:xfrm>
            <a:off x="6537960" y="555948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коректне завершення програми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2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Курсовий проєкт · ПР-214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23"/>
          <p:cNvSpPr/>
          <p:nvPr/>
        </p:nvSpPr>
        <p:spPr>
          <a:xfrm>
            <a:off x="1127736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13 / 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Text 0"/>
          <p:cNvSpPr/>
          <p:nvPr/>
        </p:nvSpPr>
        <p:spPr>
          <a:xfrm>
            <a:off x="457200" y="36576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РОЗДІЛ 3 · РОБОТА ПРОГРАМИ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"/>
          <p:cNvSpPr/>
          <p:nvPr/>
        </p:nvSpPr>
        <p:spPr>
          <a:xfrm>
            <a:off x="457200" y="685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Демонстрація: створення навантаження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8" name="Image 0" descr="/home/claude/kursach/screenshots/ss_workload_input.png"/>
          <p:cNvPicPr/>
          <p:nvPr/>
        </p:nvPicPr>
        <p:blipFill>
          <a:blip r:embed="rId1"/>
          <a:stretch/>
        </p:blipFill>
        <p:spPr>
          <a:xfrm>
            <a:off x="457200" y="1691640"/>
            <a:ext cx="319680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9" name="Text 2"/>
          <p:cNvSpPr/>
          <p:nvPr/>
        </p:nvSpPr>
        <p:spPr>
          <a:xfrm>
            <a:off x="457200" y="6309360"/>
            <a:ext cx="3196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Введення даних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3"/>
          <p:cNvSpPr/>
          <p:nvPr/>
        </p:nvSpPr>
        <p:spPr>
          <a:xfrm>
            <a:off x="4111560" y="169164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Автоматичний підрахунок: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4"/>
          <p:cNvSpPr/>
          <p:nvPr/>
        </p:nvSpPr>
        <p:spPr>
          <a:xfrm>
            <a:off x="4111560" y="2148840"/>
            <a:ext cx="4114440" cy="1462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5"/>
          <p:cNvSpPr/>
          <p:nvPr/>
        </p:nvSpPr>
        <p:spPr>
          <a:xfrm>
            <a:off x="4294440" y="224028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total_hours =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6"/>
          <p:cNvSpPr/>
          <p:nvPr/>
        </p:nvSpPr>
        <p:spPr>
          <a:xfrm>
            <a:off x="4294440" y="260604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  lectures + practical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+ laboratory + seminars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+ consultations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7"/>
          <p:cNvSpPr/>
          <p:nvPr/>
        </p:nvSpPr>
        <p:spPr>
          <a:xfrm>
            <a:off x="4111560" y="374904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Користувач вводить: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5" name="Image 1" descr="preencoded.png"/>
          <p:cNvPicPr/>
          <p:nvPr/>
        </p:nvPicPr>
        <p:blipFill>
          <a:blip r:embed="rId2"/>
          <a:stretch/>
        </p:blipFill>
        <p:spPr>
          <a:xfrm>
            <a:off x="4111560" y="4197240"/>
            <a:ext cx="182520" cy="18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Text 8"/>
          <p:cNvSpPr/>
          <p:nvPr/>
        </p:nvSpPr>
        <p:spPr>
          <a:xfrm>
            <a:off x="4385880" y="416052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ID викладачів (через пробіл)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7" name="Image 2" descr="preencoded.png"/>
          <p:cNvPicPr/>
          <p:nvPr/>
        </p:nvPicPr>
        <p:blipFill>
          <a:blip r:embed="rId3"/>
          <a:stretch/>
        </p:blipFill>
        <p:spPr>
          <a:xfrm>
            <a:off x="4111560" y="4563000"/>
            <a:ext cx="182520" cy="18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8" name="Text 9"/>
          <p:cNvSpPr/>
          <p:nvPr/>
        </p:nvSpPr>
        <p:spPr>
          <a:xfrm>
            <a:off x="4385880" y="452628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ID груп (через пробіл)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9" name="Image 3" descr="preencoded.png"/>
          <p:cNvPicPr/>
          <p:nvPr/>
        </p:nvPicPr>
        <p:blipFill>
          <a:blip r:embed="rId4"/>
          <a:stretch/>
        </p:blipFill>
        <p:spPr>
          <a:xfrm>
            <a:off x="4111560" y="4928760"/>
            <a:ext cx="182520" cy="18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0" name="Text 10"/>
          <p:cNvSpPr/>
          <p:nvPr/>
        </p:nvSpPr>
        <p:spPr>
          <a:xfrm>
            <a:off x="4385880" y="48920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ID дисципліни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1" name="Image 4" descr="preencoded.png"/>
          <p:cNvPicPr/>
          <p:nvPr/>
        </p:nvPicPr>
        <p:blipFill>
          <a:blip r:embed="rId5"/>
          <a:stretch/>
        </p:blipFill>
        <p:spPr>
          <a:xfrm>
            <a:off x="4111560" y="5294520"/>
            <a:ext cx="182520" cy="18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" name="Text 11"/>
          <p:cNvSpPr/>
          <p:nvPr/>
        </p:nvSpPr>
        <p:spPr>
          <a:xfrm>
            <a:off x="4385880" y="52578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Лекції, практичні, лабораторні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3" name="Image 5" descr="preencoded.png"/>
          <p:cNvPicPr/>
          <p:nvPr/>
        </p:nvPicPr>
        <p:blipFill>
          <a:blip r:embed="rId6"/>
          <a:stretch/>
        </p:blipFill>
        <p:spPr>
          <a:xfrm>
            <a:off x="4111560" y="5660280"/>
            <a:ext cx="182520" cy="18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Text 12"/>
          <p:cNvSpPr/>
          <p:nvPr/>
        </p:nvSpPr>
        <p:spPr>
          <a:xfrm>
            <a:off x="4385880" y="56235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Семінари, консультації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3"/>
          <p:cNvSpPr/>
          <p:nvPr/>
        </p:nvSpPr>
        <p:spPr>
          <a:xfrm>
            <a:off x="8683560" y="1691640"/>
            <a:ext cx="3050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Результат у JSON: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4"/>
          <p:cNvSpPr/>
          <p:nvPr/>
        </p:nvSpPr>
        <p:spPr>
          <a:xfrm>
            <a:off x="8683560" y="2148840"/>
            <a:ext cx="3050640" cy="4114440"/>
          </a:xfrm>
          <a:prstGeom prst="rect">
            <a:avLst/>
          </a:prstGeom>
          <a:solidFill>
            <a:srgbClr val="12173D"/>
          </a:solidFill>
          <a:ln w="12700">
            <a:solidFill>
              <a:srgbClr val="1217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5"/>
          <p:cNvSpPr/>
          <p:nvPr/>
        </p:nvSpPr>
        <p:spPr>
          <a:xfrm>
            <a:off x="8820720" y="2240280"/>
            <a:ext cx="27763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  "id": 1,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  "teacher_ids": [1, 2, 3],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  "group_ids": [1, 2],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  "discipline_id": 1,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  "lectures": 15,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  "practical_classes": 20,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  "laboratory_classes": 10,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  "seminars": 15,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  "consultations": 5,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  "total_hours": 65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6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Курсовий проєкт · ПР-214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7"/>
          <p:cNvSpPr/>
          <p:nvPr/>
        </p:nvSpPr>
        <p:spPr>
          <a:xfrm>
            <a:off x="1127736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14 / 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Text 0"/>
          <p:cNvSpPr/>
          <p:nvPr/>
        </p:nvSpPr>
        <p:spPr>
          <a:xfrm>
            <a:off x="457200" y="36576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РОЗДІЛ 3 · РОБОТА ПРОГРАМИ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"/>
          <p:cNvSpPr/>
          <p:nvPr/>
        </p:nvSpPr>
        <p:spPr>
          <a:xfrm>
            <a:off x="457200" y="685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Демонстрація: пошук інформації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2" name="Image 0" descr="/home/claude/kursach/screenshots/ss_search.png"/>
          <p:cNvPicPr/>
          <p:nvPr/>
        </p:nvPicPr>
        <p:blipFill>
          <a:blip r:embed="rId1"/>
          <a:stretch/>
        </p:blipFill>
        <p:spPr>
          <a:xfrm>
            <a:off x="457200" y="1691640"/>
            <a:ext cx="377460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3" name="Text 2"/>
          <p:cNvSpPr/>
          <p:nvPr/>
        </p:nvSpPr>
        <p:spPr>
          <a:xfrm>
            <a:off x="457200" y="6309360"/>
            <a:ext cx="3774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Пошук «Чепурняк» по всіх розділах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3"/>
          <p:cNvSpPr/>
          <p:nvPr/>
        </p:nvSpPr>
        <p:spPr>
          <a:xfrm>
            <a:off x="4872240" y="1691640"/>
            <a:ext cx="6861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Принцип пошуку: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4"/>
          <p:cNvSpPr/>
          <p:nvPr/>
        </p:nvSpPr>
        <p:spPr>
          <a:xfrm>
            <a:off x="4872240" y="2103120"/>
            <a:ext cx="6861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Один текстовий запит → паралельний пошук у всіх 4 розділах системи. Регістр символів не враховується.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5"/>
          <p:cNvSpPr/>
          <p:nvPr/>
        </p:nvSpPr>
        <p:spPr>
          <a:xfrm>
            <a:off x="4872240" y="3017520"/>
            <a:ext cx="6861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Розділи пошуку: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6"/>
          <p:cNvSpPr/>
          <p:nvPr/>
        </p:nvSpPr>
        <p:spPr>
          <a:xfrm>
            <a:off x="4872240" y="3474720"/>
            <a:ext cx="228240" cy="228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7"/>
          <p:cNvSpPr/>
          <p:nvPr/>
        </p:nvSpPr>
        <p:spPr>
          <a:xfrm>
            <a:off x="5238000" y="338328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Викладачі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8"/>
          <p:cNvSpPr/>
          <p:nvPr/>
        </p:nvSpPr>
        <p:spPr>
          <a:xfrm>
            <a:off x="7158240" y="3383280"/>
            <a:ext cx="457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ПІБ або цифрова комісія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9"/>
          <p:cNvSpPr/>
          <p:nvPr/>
        </p:nvSpPr>
        <p:spPr>
          <a:xfrm>
            <a:off x="4872240" y="3931920"/>
            <a:ext cx="228240" cy="228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10"/>
          <p:cNvSpPr/>
          <p:nvPr/>
        </p:nvSpPr>
        <p:spPr>
          <a:xfrm>
            <a:off x="5238000" y="384048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Групи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1"/>
          <p:cNvSpPr/>
          <p:nvPr/>
        </p:nvSpPr>
        <p:spPr>
          <a:xfrm>
            <a:off x="7158240" y="3840480"/>
            <a:ext cx="457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назва групи або спеціальність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12"/>
          <p:cNvSpPr/>
          <p:nvPr/>
        </p:nvSpPr>
        <p:spPr>
          <a:xfrm>
            <a:off x="4872240" y="4389120"/>
            <a:ext cx="228240" cy="228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3"/>
          <p:cNvSpPr/>
          <p:nvPr/>
        </p:nvSpPr>
        <p:spPr>
          <a:xfrm>
            <a:off x="5238000" y="429768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Дисципліни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14"/>
          <p:cNvSpPr/>
          <p:nvPr/>
        </p:nvSpPr>
        <p:spPr>
          <a:xfrm>
            <a:off x="7158240" y="4297680"/>
            <a:ext cx="457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назва дисципліни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5"/>
          <p:cNvSpPr/>
          <p:nvPr/>
        </p:nvSpPr>
        <p:spPr>
          <a:xfrm>
            <a:off x="4872240" y="4846320"/>
            <a:ext cx="228240" cy="228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6"/>
          <p:cNvSpPr/>
          <p:nvPr/>
        </p:nvSpPr>
        <p:spPr>
          <a:xfrm>
            <a:off x="5238000" y="475488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Навантаження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17"/>
          <p:cNvSpPr/>
          <p:nvPr/>
        </p:nvSpPr>
        <p:spPr>
          <a:xfrm>
            <a:off x="7158240" y="4754880"/>
            <a:ext cx="457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ID викладача / групи / дисципліни / години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18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Курсовий проєкт · ПР-214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9"/>
          <p:cNvSpPr/>
          <p:nvPr/>
        </p:nvSpPr>
        <p:spPr>
          <a:xfrm>
            <a:off x="1127736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15 / 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ext 0"/>
          <p:cNvSpPr/>
          <p:nvPr/>
        </p:nvSpPr>
        <p:spPr>
          <a:xfrm>
            <a:off x="457200" y="36576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РОЗДІЛ 2.4 · ЗАХИСТ ВІД ПОМИЛОК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"/>
          <p:cNvSpPr/>
          <p:nvPr/>
        </p:nvSpPr>
        <p:spPr>
          <a:xfrm>
            <a:off x="457200" y="685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Бізнес-правила та валідація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3" name="Image 0" descr="/home/claude/kursach/screenshots/ss_teacher_add_error.png"/>
          <p:cNvPicPr/>
          <p:nvPr/>
        </p:nvPicPr>
        <p:blipFill>
          <a:blip r:embed="rId1"/>
          <a:stretch/>
        </p:blipFill>
        <p:spPr>
          <a:xfrm>
            <a:off x="457200" y="1691640"/>
            <a:ext cx="354312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4" name="Text 2"/>
          <p:cNvSpPr/>
          <p:nvPr/>
        </p:nvSpPr>
        <p:spPr>
          <a:xfrm>
            <a:off x="457200" y="6309360"/>
            <a:ext cx="3543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Приклад: повідомлення про помилку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3"/>
          <p:cNvSpPr/>
          <p:nvPr/>
        </p:nvSpPr>
        <p:spPr>
          <a:xfrm>
            <a:off x="4640760" y="1691640"/>
            <a:ext cx="7093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Georgia"/>
                <a:ea typeface="Georgia"/>
              </a:rPr>
              <a:t>Правила перевірки даних: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4"/>
          <p:cNvSpPr/>
          <p:nvPr/>
        </p:nvSpPr>
        <p:spPr>
          <a:xfrm>
            <a:off x="4640760" y="2148840"/>
            <a:ext cx="7093440" cy="365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5"/>
          <p:cNvSpPr/>
          <p:nvPr/>
        </p:nvSpPr>
        <p:spPr>
          <a:xfrm>
            <a:off x="4777920" y="2148840"/>
            <a:ext cx="3191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Перевірка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6"/>
          <p:cNvSpPr/>
          <p:nvPr/>
        </p:nvSpPr>
        <p:spPr>
          <a:xfrm>
            <a:off x="8045640" y="2148840"/>
            <a:ext cx="35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Результат при помилці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7"/>
          <p:cNvSpPr/>
          <p:nvPr/>
        </p:nvSpPr>
        <p:spPr>
          <a:xfrm>
            <a:off x="4640760" y="2514600"/>
            <a:ext cx="709344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8"/>
          <p:cNvSpPr/>
          <p:nvPr/>
        </p:nvSpPr>
        <p:spPr>
          <a:xfrm>
            <a:off x="4777920" y="2514600"/>
            <a:ext cx="3191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Порожнє ПІБ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9"/>
          <p:cNvSpPr/>
          <p:nvPr/>
        </p:nvSpPr>
        <p:spPr>
          <a:xfrm>
            <a:off x="8045640" y="2514600"/>
            <a:ext cx="35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Викладач не створюється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10"/>
          <p:cNvSpPr/>
          <p:nvPr/>
        </p:nvSpPr>
        <p:spPr>
          <a:xfrm>
            <a:off x="4640760" y="2898720"/>
            <a:ext cx="7093440" cy="383760"/>
          </a:xfrm>
          <a:prstGeom prst="rect">
            <a:avLst/>
          </a:prstGeom>
          <a:solidFill>
            <a:srgbClr val="F8F9FC"/>
          </a:solidFill>
          <a:ln w="635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1"/>
          <p:cNvSpPr/>
          <p:nvPr/>
        </p:nvSpPr>
        <p:spPr>
          <a:xfrm>
            <a:off x="4777920" y="2898720"/>
            <a:ext cx="3191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Квота = 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2"/>
          <p:cNvSpPr/>
          <p:nvPr/>
        </p:nvSpPr>
        <p:spPr>
          <a:xfrm>
            <a:off x="8045640" y="2898720"/>
            <a:ext cx="35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Виводиться повідомлення про помилку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13"/>
          <p:cNvSpPr/>
          <p:nvPr/>
        </p:nvSpPr>
        <p:spPr>
          <a:xfrm>
            <a:off x="4640760" y="3282840"/>
            <a:ext cx="709344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4"/>
          <p:cNvSpPr/>
          <p:nvPr/>
        </p:nvSpPr>
        <p:spPr>
          <a:xfrm>
            <a:off x="4777920" y="3282840"/>
            <a:ext cx="3191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Курс &lt; 1 або &gt; 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5"/>
          <p:cNvSpPr/>
          <p:nvPr/>
        </p:nvSpPr>
        <p:spPr>
          <a:xfrm>
            <a:off x="8045640" y="3282840"/>
            <a:ext cx="35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Група не створюється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16"/>
          <p:cNvSpPr/>
          <p:nvPr/>
        </p:nvSpPr>
        <p:spPr>
          <a:xfrm>
            <a:off x="4640760" y="3666600"/>
            <a:ext cx="7093440" cy="383760"/>
          </a:xfrm>
          <a:prstGeom prst="rect">
            <a:avLst/>
          </a:prstGeom>
          <a:solidFill>
            <a:srgbClr val="F8F9FC"/>
          </a:solidFill>
          <a:ln w="635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7"/>
          <p:cNvSpPr/>
          <p:nvPr/>
        </p:nvSpPr>
        <p:spPr>
          <a:xfrm>
            <a:off x="4777920" y="3666600"/>
            <a:ext cx="3191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Неіснуючий ID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18"/>
          <p:cNvSpPr/>
          <p:nvPr/>
        </p:nvSpPr>
        <p:spPr>
          <a:xfrm>
            <a:off x="8045640" y="3666600"/>
            <a:ext cx="35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Навантаження не зберігається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19"/>
          <p:cNvSpPr/>
          <p:nvPr/>
        </p:nvSpPr>
        <p:spPr>
          <a:xfrm>
            <a:off x="4640760" y="4050720"/>
            <a:ext cx="709344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20"/>
          <p:cNvSpPr/>
          <p:nvPr/>
        </p:nvSpPr>
        <p:spPr>
          <a:xfrm>
            <a:off x="4777920" y="4050720"/>
            <a:ext cx="3191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Дублікати ID викладачів або груп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21"/>
          <p:cNvSpPr/>
          <p:nvPr/>
        </p:nvSpPr>
        <p:spPr>
          <a:xfrm>
            <a:off x="8045640" y="4050720"/>
            <a:ext cx="35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Повідомлення про дублікати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22"/>
          <p:cNvSpPr/>
          <p:nvPr/>
        </p:nvSpPr>
        <p:spPr>
          <a:xfrm>
            <a:off x="4640760" y="4434840"/>
            <a:ext cx="7093440" cy="383760"/>
          </a:xfrm>
          <a:prstGeom prst="rect">
            <a:avLst/>
          </a:prstGeom>
          <a:solidFill>
            <a:srgbClr val="F8F9FC"/>
          </a:solidFill>
          <a:ln w="635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23"/>
          <p:cNvSpPr/>
          <p:nvPr/>
        </p:nvSpPr>
        <p:spPr>
          <a:xfrm>
            <a:off x="4777920" y="4434840"/>
            <a:ext cx="3191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Перевищення квоти викладача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24"/>
          <p:cNvSpPr/>
          <p:nvPr/>
        </p:nvSpPr>
        <p:spPr>
          <a:xfrm>
            <a:off x="8045640" y="4434840"/>
            <a:ext cx="35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Операція відхиляється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25"/>
          <p:cNvSpPr/>
          <p:nvPr/>
        </p:nvSpPr>
        <p:spPr>
          <a:xfrm>
            <a:off x="4640760" y="4818960"/>
            <a:ext cx="709344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26"/>
          <p:cNvSpPr/>
          <p:nvPr/>
        </p:nvSpPr>
        <p:spPr>
          <a:xfrm>
            <a:off x="4777920" y="4818960"/>
            <a:ext cx="3191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Перевищення годин дисципліни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27"/>
          <p:cNvSpPr/>
          <p:nvPr/>
        </p:nvSpPr>
        <p:spPr>
          <a:xfrm>
            <a:off x="8045640" y="4818960"/>
            <a:ext cx="3546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Операція відхиляється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28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Курсовий проєкт · ПР-214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29"/>
          <p:cNvSpPr/>
          <p:nvPr/>
        </p:nvSpPr>
        <p:spPr>
          <a:xfrm>
            <a:off x="1127736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16 / 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Text 0"/>
          <p:cNvSpPr/>
          <p:nvPr/>
        </p:nvSpPr>
        <p:spPr>
          <a:xfrm>
            <a:off x="457200" y="36576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РОЗДІЛ 3 · ЩО ПОВЕРТАЄ ПРОГРАМА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1"/>
          <p:cNvSpPr/>
          <p:nvPr/>
        </p:nvSpPr>
        <p:spPr>
          <a:xfrm>
            <a:off x="457200" y="685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Очікувані результати роботи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2"/>
          <p:cNvSpPr/>
          <p:nvPr/>
        </p:nvSpPr>
        <p:spPr>
          <a:xfrm>
            <a:off x="457200" y="1691640"/>
            <a:ext cx="3702960" cy="223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3"/>
          <p:cNvSpPr/>
          <p:nvPr/>
        </p:nvSpPr>
        <p:spPr>
          <a:xfrm>
            <a:off x="457200" y="1691640"/>
            <a:ext cx="3702960" cy="411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6" name="Image 0" descr="preencoded.png"/>
          <p:cNvPicPr/>
          <p:nvPr/>
        </p:nvPicPr>
        <p:blipFill>
          <a:blip r:embed="rId1"/>
          <a:stretch/>
        </p:blipFill>
        <p:spPr>
          <a:xfrm>
            <a:off x="594360" y="17830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7" name="Text 4"/>
          <p:cNvSpPr/>
          <p:nvPr/>
        </p:nvSpPr>
        <p:spPr>
          <a:xfrm>
            <a:off x="914400" y="169164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Додавання викладача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5"/>
          <p:cNvSpPr/>
          <p:nvPr/>
        </p:nvSpPr>
        <p:spPr>
          <a:xfrm>
            <a:off x="594360" y="219456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ВХІД: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6"/>
          <p:cNvSpPr/>
          <p:nvPr/>
        </p:nvSpPr>
        <p:spPr>
          <a:xfrm>
            <a:off x="594360" y="2377440"/>
            <a:ext cx="3428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onsolas"/>
                <a:ea typeface="Consolas"/>
              </a:rPr>
              <a:t>ПІБ + комісія + квота 200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7"/>
          <p:cNvSpPr/>
          <p:nvPr/>
        </p:nvSpPr>
        <p:spPr>
          <a:xfrm>
            <a:off x="594360" y="288036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РЕЗУЛЬТАТ: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8"/>
          <p:cNvSpPr/>
          <p:nvPr/>
        </p:nvSpPr>
        <p:spPr>
          <a:xfrm>
            <a:off x="594360" y="3063240"/>
            <a:ext cx="3428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Запис створено, ID = max+1. JSON-файл оновлено. Виведено: «Викладача збережено»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9"/>
          <p:cNvSpPr/>
          <p:nvPr/>
        </p:nvSpPr>
        <p:spPr>
          <a:xfrm>
            <a:off x="4325040" y="1691640"/>
            <a:ext cx="3702960" cy="223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10"/>
          <p:cNvSpPr/>
          <p:nvPr/>
        </p:nvSpPr>
        <p:spPr>
          <a:xfrm>
            <a:off x="4325040" y="1691640"/>
            <a:ext cx="3702960" cy="411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4" name="Image 1" descr="preencoded.png"/>
          <p:cNvPicPr/>
          <p:nvPr/>
        </p:nvPicPr>
        <p:blipFill>
          <a:blip r:embed="rId2"/>
          <a:stretch/>
        </p:blipFill>
        <p:spPr>
          <a:xfrm>
            <a:off x="4462200" y="17830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5" name="Text 11"/>
          <p:cNvSpPr/>
          <p:nvPr/>
        </p:nvSpPr>
        <p:spPr>
          <a:xfrm>
            <a:off x="4782240" y="169164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Введення квоти = 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12"/>
          <p:cNvSpPr/>
          <p:nvPr/>
        </p:nvSpPr>
        <p:spPr>
          <a:xfrm>
            <a:off x="4462200" y="219456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ВХІД: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13"/>
          <p:cNvSpPr/>
          <p:nvPr/>
        </p:nvSpPr>
        <p:spPr>
          <a:xfrm>
            <a:off x="4462200" y="2377440"/>
            <a:ext cx="3428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onsolas"/>
                <a:ea typeface="Consolas"/>
              </a:rPr>
              <a:t>ПІБ коректний, але quota = 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4"/>
          <p:cNvSpPr/>
          <p:nvPr/>
        </p:nvSpPr>
        <p:spPr>
          <a:xfrm>
            <a:off x="4462200" y="288036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РЕЗУЛЬТАТ: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15"/>
          <p:cNvSpPr/>
          <p:nvPr/>
        </p:nvSpPr>
        <p:spPr>
          <a:xfrm>
            <a:off x="4462200" y="3063240"/>
            <a:ext cx="3428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OperationResult { success=false, message=«Квота повинна бути більше 0» }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16"/>
          <p:cNvSpPr/>
          <p:nvPr/>
        </p:nvSpPr>
        <p:spPr>
          <a:xfrm>
            <a:off x="8192880" y="1691640"/>
            <a:ext cx="3702960" cy="223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17"/>
          <p:cNvSpPr/>
          <p:nvPr/>
        </p:nvSpPr>
        <p:spPr>
          <a:xfrm>
            <a:off x="8192880" y="1691640"/>
            <a:ext cx="3702960" cy="411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2" name="Image 2" descr="preencoded.png"/>
          <p:cNvPicPr/>
          <p:nvPr/>
        </p:nvPicPr>
        <p:blipFill>
          <a:blip r:embed="rId3"/>
          <a:stretch/>
        </p:blipFill>
        <p:spPr>
          <a:xfrm>
            <a:off x="8330040" y="17830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Text 18"/>
          <p:cNvSpPr/>
          <p:nvPr/>
        </p:nvSpPr>
        <p:spPr>
          <a:xfrm>
            <a:off x="8650080" y="169164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Створення навантаження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9"/>
          <p:cNvSpPr/>
          <p:nvPr/>
        </p:nvSpPr>
        <p:spPr>
          <a:xfrm>
            <a:off x="8330040" y="219456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ВХІД: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20"/>
          <p:cNvSpPr/>
          <p:nvPr/>
        </p:nvSpPr>
        <p:spPr>
          <a:xfrm>
            <a:off x="8330040" y="2377440"/>
            <a:ext cx="3428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onsolas"/>
                <a:ea typeface="Consolas"/>
              </a:rPr>
              <a:t>teacher_ids=[1,2,3], group_ids=[1,2], discipline=1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21"/>
          <p:cNvSpPr/>
          <p:nvPr/>
        </p:nvSpPr>
        <p:spPr>
          <a:xfrm>
            <a:off x="8330040" y="288036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РЕЗУЛЬТАТ: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22"/>
          <p:cNvSpPr/>
          <p:nvPr/>
        </p:nvSpPr>
        <p:spPr>
          <a:xfrm>
            <a:off x="8330040" y="3063240"/>
            <a:ext cx="3428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Перевірка → всі ID існують, без дублів, квоти в межах. Запис створено. total_hours рахується автоматично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23"/>
          <p:cNvSpPr/>
          <p:nvPr/>
        </p:nvSpPr>
        <p:spPr>
          <a:xfrm>
            <a:off x="457200" y="4096440"/>
            <a:ext cx="3702960" cy="223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24"/>
          <p:cNvSpPr/>
          <p:nvPr/>
        </p:nvSpPr>
        <p:spPr>
          <a:xfrm>
            <a:off x="457200" y="4096440"/>
            <a:ext cx="3702960" cy="411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0" name="Image 3" descr="preencoded.png"/>
          <p:cNvPicPr/>
          <p:nvPr/>
        </p:nvPicPr>
        <p:blipFill>
          <a:blip r:embed="rId4"/>
          <a:stretch/>
        </p:blipFill>
        <p:spPr>
          <a:xfrm>
            <a:off x="594360" y="41878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1" name="Text 25"/>
          <p:cNvSpPr/>
          <p:nvPr/>
        </p:nvSpPr>
        <p:spPr>
          <a:xfrm>
            <a:off x="914400" y="409644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Видалення викладача в навантаженні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26"/>
          <p:cNvSpPr/>
          <p:nvPr/>
        </p:nvSpPr>
        <p:spPr>
          <a:xfrm>
            <a:off x="594360" y="459936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ВХІД: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27"/>
          <p:cNvSpPr/>
          <p:nvPr/>
        </p:nvSpPr>
        <p:spPr>
          <a:xfrm>
            <a:off x="594360" y="4782240"/>
            <a:ext cx="3428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onsolas"/>
                <a:ea typeface="Consolas"/>
              </a:rPr>
              <a:t>DELETE teacher id=1, що є у workload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28"/>
          <p:cNvSpPr/>
          <p:nvPr/>
        </p:nvSpPr>
        <p:spPr>
          <a:xfrm>
            <a:off x="594360" y="528516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РЕЗУЛЬТАТ: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29"/>
          <p:cNvSpPr/>
          <p:nvPr/>
        </p:nvSpPr>
        <p:spPr>
          <a:xfrm>
            <a:off x="594360" y="5468040"/>
            <a:ext cx="3428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HasWorkloadForTeacher(1) = true → відмова. Повідомлення: «Викладач використовується у навантаженні»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30"/>
          <p:cNvSpPr/>
          <p:nvPr/>
        </p:nvSpPr>
        <p:spPr>
          <a:xfrm>
            <a:off x="4325040" y="4096440"/>
            <a:ext cx="3702960" cy="223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31"/>
          <p:cNvSpPr/>
          <p:nvPr/>
        </p:nvSpPr>
        <p:spPr>
          <a:xfrm>
            <a:off x="4325040" y="4096440"/>
            <a:ext cx="3702960" cy="411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8" name="Image 4" descr="preencoded.png"/>
          <p:cNvPicPr/>
          <p:nvPr/>
        </p:nvPicPr>
        <p:blipFill>
          <a:blip r:embed="rId5"/>
          <a:stretch/>
        </p:blipFill>
        <p:spPr>
          <a:xfrm>
            <a:off x="4462200" y="41878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9" name="Text 32"/>
          <p:cNvSpPr/>
          <p:nvPr/>
        </p:nvSpPr>
        <p:spPr>
          <a:xfrm>
            <a:off x="4782240" y="409644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Пошук «Чепурняк»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33"/>
          <p:cNvSpPr/>
          <p:nvPr/>
        </p:nvSpPr>
        <p:spPr>
          <a:xfrm>
            <a:off x="4462200" y="459936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ВХІД: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34"/>
          <p:cNvSpPr/>
          <p:nvPr/>
        </p:nvSpPr>
        <p:spPr>
          <a:xfrm>
            <a:off x="4462200" y="4782240"/>
            <a:ext cx="3428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onsolas"/>
                <a:ea typeface="Consolas"/>
              </a:rPr>
              <a:t>Текстовий запит у меню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35"/>
          <p:cNvSpPr/>
          <p:nvPr/>
        </p:nvSpPr>
        <p:spPr>
          <a:xfrm>
            <a:off x="4462200" y="528516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РЕЗУЛЬТАТ: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36"/>
          <p:cNvSpPr/>
          <p:nvPr/>
        </p:nvSpPr>
        <p:spPr>
          <a:xfrm>
            <a:off x="4462200" y="5468040"/>
            <a:ext cx="3428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Знайдено у Викладачі. У Групи / Дисципліни / Навантаження — «не знайдено». Регістр ігнорується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37"/>
          <p:cNvSpPr/>
          <p:nvPr/>
        </p:nvSpPr>
        <p:spPr>
          <a:xfrm>
            <a:off x="8192880" y="4096440"/>
            <a:ext cx="3702960" cy="223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38"/>
          <p:cNvSpPr/>
          <p:nvPr/>
        </p:nvSpPr>
        <p:spPr>
          <a:xfrm>
            <a:off x="8192880" y="4096440"/>
            <a:ext cx="3702960" cy="411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6" name="Image 5" descr="preencoded.png"/>
          <p:cNvPicPr/>
          <p:nvPr/>
        </p:nvPicPr>
        <p:blipFill>
          <a:blip r:embed="rId6"/>
          <a:stretch/>
        </p:blipFill>
        <p:spPr>
          <a:xfrm>
            <a:off x="8330040" y="41878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7" name="Text 39"/>
          <p:cNvSpPr/>
          <p:nvPr/>
        </p:nvSpPr>
        <p:spPr>
          <a:xfrm>
            <a:off x="8650080" y="409644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Перезапуск програми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40"/>
          <p:cNvSpPr/>
          <p:nvPr/>
        </p:nvSpPr>
        <p:spPr>
          <a:xfrm>
            <a:off x="8330040" y="459936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ВХІД: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41"/>
          <p:cNvSpPr/>
          <p:nvPr/>
        </p:nvSpPr>
        <p:spPr>
          <a:xfrm>
            <a:off x="8330040" y="4782240"/>
            <a:ext cx="3428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E2761"/>
                </a:solidFill>
                <a:effectLst/>
                <a:uFillTx/>
                <a:latin typeface="Consolas"/>
                <a:ea typeface="Consolas"/>
              </a:rPr>
              <a:t>Закрити та відкрити app знову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42"/>
          <p:cNvSpPr/>
          <p:nvPr/>
        </p:nvSpPr>
        <p:spPr>
          <a:xfrm>
            <a:off x="8330040" y="528516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РЕЗУЛЬТАТ: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43"/>
          <p:cNvSpPr/>
          <p:nvPr/>
        </p:nvSpPr>
        <p:spPr>
          <a:xfrm>
            <a:off x="8330040" y="5468040"/>
            <a:ext cx="3428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F1840"/>
                </a:solidFill>
                <a:effectLst/>
                <a:uFillTx/>
                <a:latin typeface="Calibri"/>
                <a:ea typeface="Calibri"/>
              </a:rPr>
              <a:t>ReadJsonArray() завантажує всі записи з Output/. Дані доступні. Якщо файлу немає — порожній масив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44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Курсовий проєкт · ПР-214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45"/>
          <p:cNvSpPr/>
          <p:nvPr/>
        </p:nvSpPr>
        <p:spPr>
          <a:xfrm>
            <a:off x="1127736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17 / 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Text 0"/>
          <p:cNvSpPr/>
          <p:nvPr/>
        </p:nvSpPr>
        <p:spPr>
          <a:xfrm>
            <a:off x="457200" y="365760"/>
            <a:ext cx="10972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РОЗДІЛ 3.1 · ЗАКЛЮЧНА ЧАСТИНА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1"/>
          <p:cNvSpPr/>
          <p:nvPr/>
        </p:nvSpPr>
        <p:spPr>
          <a:xfrm>
            <a:off x="457200" y="685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Результати тестування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2"/>
          <p:cNvSpPr/>
          <p:nvPr/>
        </p:nvSpPr>
        <p:spPr>
          <a:xfrm>
            <a:off x="431280" y="1691640"/>
            <a:ext cx="2742840" cy="2102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3"/>
          <p:cNvSpPr/>
          <p:nvPr/>
        </p:nvSpPr>
        <p:spPr>
          <a:xfrm>
            <a:off x="431280" y="1874520"/>
            <a:ext cx="2742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CADCFC"/>
                </a:solidFill>
                <a:effectLst/>
                <a:uFillTx/>
                <a:latin typeface="Georgia"/>
                <a:ea typeface="Georgia"/>
              </a:rPr>
              <a:t>12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4"/>
          <p:cNvSpPr/>
          <p:nvPr/>
        </p:nvSpPr>
        <p:spPr>
          <a:xfrm>
            <a:off x="431280" y="301752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тестових сценаріїв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5"/>
          <p:cNvSpPr/>
          <p:nvPr/>
        </p:nvSpPr>
        <p:spPr>
          <a:xfrm>
            <a:off x="431280" y="33832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всі основні функції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6"/>
          <p:cNvSpPr/>
          <p:nvPr/>
        </p:nvSpPr>
        <p:spPr>
          <a:xfrm>
            <a:off x="3293280" y="1691640"/>
            <a:ext cx="2742840" cy="2102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7"/>
          <p:cNvSpPr/>
          <p:nvPr/>
        </p:nvSpPr>
        <p:spPr>
          <a:xfrm>
            <a:off x="3293280" y="1874520"/>
            <a:ext cx="2742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CADCFC"/>
                </a:solidFill>
                <a:effectLst/>
                <a:uFillTx/>
                <a:latin typeface="Georgia"/>
                <a:ea typeface="Georgia"/>
              </a:rPr>
              <a:t>100%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8"/>
          <p:cNvSpPr/>
          <p:nvPr/>
        </p:nvSpPr>
        <p:spPr>
          <a:xfrm>
            <a:off x="3293280" y="301752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успішність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9"/>
          <p:cNvSpPr/>
          <p:nvPr/>
        </p:nvSpPr>
        <p:spPr>
          <a:xfrm>
            <a:off x="3293280" y="33832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відповідає очікуванням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10"/>
          <p:cNvSpPr/>
          <p:nvPr/>
        </p:nvSpPr>
        <p:spPr>
          <a:xfrm>
            <a:off x="6155280" y="1691640"/>
            <a:ext cx="2742840" cy="2102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11"/>
          <p:cNvSpPr/>
          <p:nvPr/>
        </p:nvSpPr>
        <p:spPr>
          <a:xfrm>
            <a:off x="6155280" y="1874520"/>
            <a:ext cx="2742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CADCFC"/>
                </a:solidFill>
                <a:effectLst/>
                <a:uFillTx/>
                <a:latin typeface="Georgia"/>
                <a:ea typeface="Georgia"/>
              </a:rPr>
              <a:t>7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12"/>
          <p:cNvSpPr/>
          <p:nvPr/>
        </p:nvSpPr>
        <p:spPr>
          <a:xfrm>
            <a:off x="6155280" y="301752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бізнес-правил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13"/>
          <p:cNvSpPr/>
          <p:nvPr/>
        </p:nvSpPr>
        <p:spPr>
          <a:xfrm>
            <a:off x="6155280" y="33832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перевірка даних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14"/>
          <p:cNvSpPr/>
          <p:nvPr/>
        </p:nvSpPr>
        <p:spPr>
          <a:xfrm>
            <a:off x="9017280" y="1691640"/>
            <a:ext cx="2742840" cy="2102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15"/>
          <p:cNvSpPr/>
          <p:nvPr/>
        </p:nvSpPr>
        <p:spPr>
          <a:xfrm>
            <a:off x="9017280" y="1874520"/>
            <a:ext cx="2742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CADCFC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16"/>
          <p:cNvSpPr/>
          <p:nvPr/>
        </p:nvSpPr>
        <p:spPr>
          <a:xfrm>
            <a:off x="9017280" y="301752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JSON-файли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17"/>
          <p:cNvSpPr/>
          <p:nvPr/>
        </p:nvSpPr>
        <p:spPr>
          <a:xfrm>
            <a:off x="9017280" y="33832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дані зберігаються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18"/>
          <p:cNvSpPr/>
          <p:nvPr/>
        </p:nvSpPr>
        <p:spPr>
          <a:xfrm>
            <a:off x="431280" y="4114800"/>
            <a:ext cx="2742840" cy="1554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3" name="Image 0" descr="preencoded.png"/>
          <p:cNvPicPr/>
          <p:nvPr/>
        </p:nvPicPr>
        <p:blipFill>
          <a:blip r:embed="rId1"/>
          <a:stretch/>
        </p:blipFill>
        <p:spPr>
          <a:xfrm>
            <a:off x="659880" y="43434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4" name="Text 19"/>
          <p:cNvSpPr/>
          <p:nvPr/>
        </p:nvSpPr>
        <p:spPr>
          <a:xfrm>
            <a:off x="1162800" y="43160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Додавання викладача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20"/>
          <p:cNvSpPr/>
          <p:nvPr/>
        </p:nvSpPr>
        <p:spPr>
          <a:xfrm>
            <a:off x="659880" y="489204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Коректні дані → запис створено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21"/>
          <p:cNvSpPr/>
          <p:nvPr/>
        </p:nvSpPr>
        <p:spPr>
          <a:xfrm>
            <a:off x="3293280" y="4114800"/>
            <a:ext cx="2742840" cy="1554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7" name="Image 1" descr="preencoded.png"/>
          <p:cNvPicPr/>
          <p:nvPr/>
        </p:nvPicPr>
        <p:blipFill>
          <a:blip r:embed="rId2"/>
          <a:stretch/>
        </p:blipFill>
        <p:spPr>
          <a:xfrm>
            <a:off x="3521880" y="43434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8" name="Text 22"/>
          <p:cNvSpPr/>
          <p:nvPr/>
        </p:nvSpPr>
        <p:spPr>
          <a:xfrm>
            <a:off x="4024800" y="43160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Порожнє ПІБ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23"/>
          <p:cNvSpPr/>
          <p:nvPr/>
        </p:nvSpPr>
        <p:spPr>
          <a:xfrm>
            <a:off x="3521880" y="489204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Операція відхилена, виведено помилку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24"/>
          <p:cNvSpPr/>
          <p:nvPr/>
        </p:nvSpPr>
        <p:spPr>
          <a:xfrm>
            <a:off x="6155280" y="4114800"/>
            <a:ext cx="2742840" cy="1554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1" name="Image 2" descr="preencoded.png"/>
          <p:cNvPicPr/>
          <p:nvPr/>
        </p:nvPicPr>
        <p:blipFill>
          <a:blip r:embed="rId3"/>
          <a:stretch/>
        </p:blipFill>
        <p:spPr>
          <a:xfrm>
            <a:off x="6383880" y="43434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2" name="Text 25"/>
          <p:cNvSpPr/>
          <p:nvPr/>
        </p:nvSpPr>
        <p:spPr>
          <a:xfrm>
            <a:off x="6886800" y="43160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Пошук за дисципліною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26"/>
          <p:cNvSpPr/>
          <p:nvPr/>
        </p:nvSpPr>
        <p:spPr>
          <a:xfrm>
            <a:off x="6383880" y="489204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Знайдено відповідний запис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27"/>
          <p:cNvSpPr/>
          <p:nvPr/>
        </p:nvSpPr>
        <p:spPr>
          <a:xfrm>
            <a:off x="9017280" y="4114800"/>
            <a:ext cx="2742840" cy="1554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5" name="Image 3" descr="preencoded.png"/>
          <p:cNvPicPr/>
          <p:nvPr/>
        </p:nvPicPr>
        <p:blipFill>
          <a:blip r:embed="rId4"/>
          <a:stretch/>
        </p:blipFill>
        <p:spPr>
          <a:xfrm>
            <a:off x="9245880" y="434340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6" name="Text 28"/>
          <p:cNvSpPr/>
          <p:nvPr/>
        </p:nvSpPr>
        <p:spPr>
          <a:xfrm>
            <a:off x="9748800" y="43160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1840"/>
                </a:solidFill>
                <a:effectLst/>
                <a:uFillTx/>
                <a:latin typeface="Georgia"/>
                <a:ea typeface="Georgia"/>
              </a:rPr>
              <a:t>Дублікат ID викладача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29"/>
          <p:cNvSpPr/>
          <p:nvPr/>
        </p:nvSpPr>
        <p:spPr>
          <a:xfrm>
            <a:off x="9245880" y="4892040"/>
            <a:ext cx="2377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Виведено повідомлення про дублікати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30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Курсовий проєкт · ПР-214 ·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31"/>
          <p:cNvSpPr/>
          <p:nvPr/>
        </p:nvSpPr>
        <p:spPr>
          <a:xfrm>
            <a:off x="11277360" y="644652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18 / 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Shape 0"/>
          <p:cNvSpPr/>
          <p:nvPr/>
        </p:nvSpPr>
        <p:spPr>
          <a:xfrm>
            <a:off x="-1828800" y="-1828800"/>
            <a:ext cx="4571640" cy="4571640"/>
          </a:xfrm>
          <a:prstGeom prst="ellipse">
            <a:avLst/>
          </a:prstGeom>
          <a:solidFill>
            <a:srgbClr val="12173D">
              <a:alpha val="70000"/>
            </a:srgbClr>
          </a:solidFill>
          <a:ln w="12700">
            <a:solidFill>
              <a:srgbClr val="12173D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1"/>
          <p:cNvSpPr/>
          <p:nvPr/>
        </p:nvSpPr>
        <p:spPr>
          <a:xfrm>
            <a:off x="9448560" y="4114800"/>
            <a:ext cx="4571640" cy="4571640"/>
          </a:xfrm>
          <a:prstGeom prst="ellipse">
            <a:avLst/>
          </a:prstGeom>
          <a:solidFill>
            <a:srgbClr val="12173D">
              <a:alpha val="50000"/>
            </a:srgbClr>
          </a:solidFill>
          <a:ln w="12700">
            <a:solidFill>
              <a:srgbClr val="12173D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2"/>
          <p:cNvSpPr/>
          <p:nvPr/>
        </p:nvSpPr>
        <p:spPr>
          <a:xfrm>
            <a:off x="457200" y="548640"/>
            <a:ext cx="112467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i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Дякую за увагу!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3"/>
          <p:cNvSpPr/>
          <p:nvPr/>
        </p:nvSpPr>
        <p:spPr>
          <a:xfrm>
            <a:off x="457200" y="182880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499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ВИСНОВКИ КУРСОВОГО ПРОЄКТУ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4"/>
          <p:cNvSpPr/>
          <p:nvPr/>
        </p:nvSpPr>
        <p:spPr>
          <a:xfrm>
            <a:off x="677880" y="2377440"/>
            <a:ext cx="5303160" cy="1508400"/>
          </a:xfrm>
          <a:prstGeom prst="rect">
            <a:avLst/>
          </a:prstGeom>
          <a:solidFill>
            <a:srgbClr val="12173D">
              <a:alpha val="60000"/>
            </a:srgbClr>
          </a:solidFill>
          <a:ln w="12700">
            <a:solidFill>
              <a:srgbClr val="CADCFC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5" name="Image 0" descr="preencoded.png"/>
          <p:cNvPicPr/>
          <p:nvPr/>
        </p:nvPicPr>
        <p:blipFill>
          <a:blip r:embed="rId1"/>
          <a:stretch/>
        </p:blipFill>
        <p:spPr>
          <a:xfrm>
            <a:off x="906480" y="260604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6" name="Text 5"/>
          <p:cNvSpPr/>
          <p:nvPr/>
        </p:nvSpPr>
        <p:spPr>
          <a:xfrm>
            <a:off x="1455120" y="2560320"/>
            <a:ext cx="4388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Мета досягнута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6"/>
          <p:cNvSpPr/>
          <p:nvPr/>
        </p:nvSpPr>
        <p:spPr>
          <a:xfrm>
            <a:off x="906480" y="3063240"/>
            <a:ext cx="4937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Розроблено повноцінну консольну ІПС для розподілу учбового навантаження мовою C++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7"/>
          <p:cNvSpPr/>
          <p:nvPr/>
        </p:nvSpPr>
        <p:spPr>
          <a:xfrm>
            <a:off x="6210000" y="2377440"/>
            <a:ext cx="5303160" cy="1508400"/>
          </a:xfrm>
          <a:prstGeom prst="rect">
            <a:avLst/>
          </a:prstGeom>
          <a:solidFill>
            <a:srgbClr val="12173D">
              <a:alpha val="60000"/>
            </a:srgbClr>
          </a:solidFill>
          <a:ln w="12700">
            <a:solidFill>
              <a:srgbClr val="CADCFC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9" name="Image 1" descr="preencoded.png"/>
          <p:cNvPicPr/>
          <p:nvPr/>
        </p:nvPicPr>
        <p:blipFill>
          <a:blip r:embed="rId2"/>
          <a:stretch/>
        </p:blipFill>
        <p:spPr>
          <a:xfrm>
            <a:off x="6438600" y="260604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0" name="Text 8"/>
          <p:cNvSpPr/>
          <p:nvPr/>
        </p:nvSpPr>
        <p:spPr>
          <a:xfrm>
            <a:off x="6987240" y="2560320"/>
            <a:ext cx="4388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Архітектура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9"/>
          <p:cNvSpPr/>
          <p:nvPr/>
        </p:nvSpPr>
        <p:spPr>
          <a:xfrm>
            <a:off x="6438600" y="3063240"/>
            <a:ext cx="4937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Реалізовано чотиришарову модульну структуру з повним розділенням відповідальності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10"/>
          <p:cNvSpPr/>
          <p:nvPr/>
        </p:nvSpPr>
        <p:spPr>
          <a:xfrm>
            <a:off x="677880" y="4114800"/>
            <a:ext cx="5303160" cy="1508400"/>
          </a:xfrm>
          <a:prstGeom prst="rect">
            <a:avLst/>
          </a:prstGeom>
          <a:solidFill>
            <a:srgbClr val="12173D">
              <a:alpha val="60000"/>
            </a:srgbClr>
          </a:solidFill>
          <a:ln w="12700">
            <a:solidFill>
              <a:srgbClr val="CADCFC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3" name="Image 2" descr="preencoded.png"/>
          <p:cNvPicPr/>
          <p:nvPr/>
        </p:nvPicPr>
        <p:blipFill>
          <a:blip r:embed="rId3"/>
          <a:stretch/>
        </p:blipFill>
        <p:spPr>
          <a:xfrm>
            <a:off x="906480" y="434340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4" name="Text 11"/>
          <p:cNvSpPr/>
          <p:nvPr/>
        </p:nvSpPr>
        <p:spPr>
          <a:xfrm>
            <a:off x="1455120" y="4297680"/>
            <a:ext cx="4388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Функціонал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12"/>
          <p:cNvSpPr/>
          <p:nvPr/>
        </p:nvSpPr>
        <p:spPr>
          <a:xfrm>
            <a:off x="906480" y="4800600"/>
            <a:ext cx="4937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Повний набір CRUD-операцій + пошук + валідація + збереження у JSON-форматі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13"/>
          <p:cNvSpPr/>
          <p:nvPr/>
        </p:nvSpPr>
        <p:spPr>
          <a:xfrm>
            <a:off x="6210000" y="4114800"/>
            <a:ext cx="5303160" cy="1508400"/>
          </a:xfrm>
          <a:prstGeom prst="rect">
            <a:avLst/>
          </a:prstGeom>
          <a:solidFill>
            <a:srgbClr val="12173D">
              <a:alpha val="60000"/>
            </a:srgbClr>
          </a:solidFill>
          <a:ln w="12700">
            <a:solidFill>
              <a:srgbClr val="CADCFC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7" name="Image 3" descr="preencoded.png"/>
          <p:cNvPicPr/>
          <p:nvPr/>
        </p:nvPicPr>
        <p:blipFill>
          <a:blip r:embed="rId4"/>
          <a:stretch/>
        </p:blipFill>
        <p:spPr>
          <a:xfrm>
            <a:off x="6438600" y="4343400"/>
            <a:ext cx="41112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8" name="Text 14"/>
          <p:cNvSpPr/>
          <p:nvPr/>
        </p:nvSpPr>
        <p:spPr>
          <a:xfrm>
            <a:off x="6987240" y="4297680"/>
            <a:ext cx="4388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Тестування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15"/>
          <p:cNvSpPr/>
          <p:nvPr/>
        </p:nvSpPr>
        <p:spPr>
          <a:xfrm>
            <a:off x="6438600" y="4800600"/>
            <a:ext cx="4937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Проведено ручне тестування — усі 12 сценаріїв виконано успішно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16"/>
          <p:cNvSpPr/>
          <p:nvPr/>
        </p:nvSpPr>
        <p:spPr>
          <a:xfrm>
            <a:off x="457200" y="6217920"/>
            <a:ext cx="11246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onsolas"/>
                <a:ea typeface="Consolas"/>
              </a:rPr>
              <a:t>github.com/4booser/CourseProject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17"/>
          <p:cNvSpPr/>
          <p:nvPr/>
        </p:nvSpPr>
        <p:spPr>
          <a:xfrm>
            <a:off x="457200" y="649224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300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Чепурняк О. В. · група ПР-214 ·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LibreOffice/26.2.3.2$Linux_X86_64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2026-06-01T18:00:42Z</dcterms:created>
  <dc:creator>Чепурняк О. В.</dc:creator>
  <dc:description/>
  <dc:language>en-US</dc:language>
  <cp:lastModifiedBy/>
  <dcterms:modified xsi:type="dcterms:W3CDTF">2026-06-01T21:12:23Z</dcterms:modified>
  <cp:revision>2</cp:revision>
  <dc:subject>PptxGenJS Presentation</dc:subject>
  <dc:title>Розподіл учбового навантаження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On-screen Show (16:9)</vt:lpwstr>
  </property>
  <property fmtid="{D5CDD505-2E9C-101B-9397-08002B2CF9AE}" pid="4" name="Slides">
    <vt:i4>19</vt:i4>
  </property>
</Properties>
</file>